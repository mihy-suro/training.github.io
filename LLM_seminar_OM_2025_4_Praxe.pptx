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56" r:id="rId3"/>
    <p:sldId id="268" r:id="rId4"/>
    <p:sldId id="261" r:id="rId5"/>
    <p:sldId id="269" r:id="rId6"/>
    <p:sldId id="258" r:id="rId7"/>
    <p:sldId id="260" r:id="rId8"/>
    <p:sldId id="259" r:id="rId9"/>
    <p:sldId id="263" r:id="rId10"/>
    <p:sldId id="264"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řední styl 2 – zvýraznění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řední styl 2 – zvýraznění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8603FDC-E32A-4AB5-989C-0864C3EAD2B8}" styleName="Styl s motivem 2 – zvýraznění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Světlý styl 1 – zvýraznění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84E427A-3D55-4303-BF80-6455036E1DE7}" styleName="Styl s motivem 1 – zvýraznění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1524000" y="1122363"/>
            <a:ext cx="9144000" cy="2387600"/>
          </a:xfrm>
        </p:spPr>
        <p:txBody>
          <a:bodyPr anchor="b"/>
          <a:lstStyle>
            <a:lvl1pPr algn="ctr">
              <a:defRPr sz="6000"/>
            </a:lvl1pPr>
          </a:lstStyle>
          <a:p>
            <a:r>
              <a:rPr lang="cs-CZ" smtClean="0"/>
              <a:t>Kliknutím lze upravit styl.</a:t>
            </a:r>
            <a:endParaRPr lang="en-GB"/>
          </a:p>
        </p:txBody>
      </p:sp>
      <p:sp>
        <p:nvSpPr>
          <p:cNvPr id="3" name="Podnadpis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smtClean="0"/>
              <a:t>Kliknutím můžete upravit styl předlohy.</a:t>
            </a:r>
            <a:endParaRPr lang="en-GB"/>
          </a:p>
        </p:txBody>
      </p:sp>
      <p:sp>
        <p:nvSpPr>
          <p:cNvPr id="4" name="Zástupný symbol pro datum 3"/>
          <p:cNvSpPr>
            <a:spLocks noGrp="1"/>
          </p:cNvSpPr>
          <p:nvPr>
            <p:ph type="dt" sz="half" idx="10"/>
          </p:nvPr>
        </p:nvSpPr>
        <p:spPr/>
        <p:txBody>
          <a:bodyPr/>
          <a:lstStyle/>
          <a:p>
            <a:fld id="{9F94A0B6-1981-47F0-9697-9F5934A31245}" type="datetimeFigureOut">
              <a:rPr lang="en-GB" smtClean="0"/>
              <a:t>16/04/2025</a:t>
            </a:fld>
            <a:endParaRPr lang="en-GB"/>
          </a:p>
        </p:txBody>
      </p:sp>
      <p:sp>
        <p:nvSpPr>
          <p:cNvPr id="5" name="Zástupný symbol pro zápatí 4"/>
          <p:cNvSpPr>
            <a:spLocks noGrp="1"/>
          </p:cNvSpPr>
          <p:nvPr>
            <p:ph type="ftr" sz="quarter" idx="11"/>
          </p:nvPr>
        </p:nvSpPr>
        <p:spPr/>
        <p:txBody>
          <a:bodyPr/>
          <a:lstStyle/>
          <a:p>
            <a:endParaRPr lang="en-GB"/>
          </a:p>
        </p:txBody>
      </p:sp>
      <p:sp>
        <p:nvSpPr>
          <p:cNvPr id="6" name="Zástupný symbol pro číslo snímku 5"/>
          <p:cNvSpPr>
            <a:spLocks noGrp="1"/>
          </p:cNvSpPr>
          <p:nvPr>
            <p:ph type="sldNum" sz="quarter" idx="12"/>
          </p:nvPr>
        </p:nvSpPr>
        <p:spPr/>
        <p:txBody>
          <a:bodyPr/>
          <a:lstStyle/>
          <a:p>
            <a:fld id="{A8326FB8-368C-48F3-ACBD-7DC17D7F746A}" type="slidenum">
              <a:rPr lang="en-GB" smtClean="0"/>
              <a:t>‹#›</a:t>
            </a:fld>
            <a:endParaRPr lang="en-GB"/>
          </a:p>
        </p:txBody>
      </p:sp>
    </p:spTree>
    <p:extLst>
      <p:ext uri="{BB962C8B-B14F-4D97-AF65-F5344CB8AC3E}">
        <p14:creationId xmlns:p14="http://schemas.microsoft.com/office/powerpoint/2010/main" val="334401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en-GB"/>
          </a:p>
        </p:txBody>
      </p:sp>
      <p:sp>
        <p:nvSpPr>
          <p:cNvPr id="3" name="Zástupný symbol pro obsah 2"/>
          <p:cNvSpPr>
            <a:spLocks noGrp="1"/>
          </p:cNvSpPr>
          <p:nvPr>
            <p:ph idx="1"/>
          </p:nvPr>
        </p:nvSpPr>
        <p:spPr/>
        <p:txBody>
          <a:bodyPr/>
          <a:lstStyle/>
          <a:p>
            <a:pPr lvl="0"/>
            <a:r>
              <a:rPr lang="cs-CZ" smtClean="0"/>
              <a:t>Upravte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GB"/>
          </a:p>
        </p:txBody>
      </p:sp>
      <p:sp>
        <p:nvSpPr>
          <p:cNvPr id="4" name="Zástupný symbol pro datum 3"/>
          <p:cNvSpPr>
            <a:spLocks noGrp="1"/>
          </p:cNvSpPr>
          <p:nvPr>
            <p:ph type="dt" sz="half" idx="10"/>
          </p:nvPr>
        </p:nvSpPr>
        <p:spPr/>
        <p:txBody>
          <a:bodyPr/>
          <a:lstStyle/>
          <a:p>
            <a:fld id="{9F94A0B6-1981-47F0-9697-9F5934A31245}" type="datetimeFigureOut">
              <a:rPr lang="en-GB" smtClean="0"/>
              <a:t>16/04/2025</a:t>
            </a:fld>
            <a:endParaRPr lang="en-GB"/>
          </a:p>
        </p:txBody>
      </p:sp>
      <p:sp>
        <p:nvSpPr>
          <p:cNvPr id="5" name="Zástupný symbol pro zápatí 4"/>
          <p:cNvSpPr>
            <a:spLocks noGrp="1"/>
          </p:cNvSpPr>
          <p:nvPr>
            <p:ph type="ftr" sz="quarter" idx="11"/>
          </p:nvPr>
        </p:nvSpPr>
        <p:spPr/>
        <p:txBody>
          <a:bodyPr/>
          <a:lstStyle/>
          <a:p>
            <a:endParaRPr lang="en-GB"/>
          </a:p>
        </p:txBody>
      </p:sp>
      <p:sp>
        <p:nvSpPr>
          <p:cNvPr id="6" name="Zástupný symbol pro číslo snímku 5"/>
          <p:cNvSpPr>
            <a:spLocks noGrp="1"/>
          </p:cNvSpPr>
          <p:nvPr>
            <p:ph type="sldNum" sz="quarter" idx="12"/>
          </p:nvPr>
        </p:nvSpPr>
        <p:spPr/>
        <p:txBody>
          <a:bodyPr/>
          <a:lstStyle/>
          <a:p>
            <a:fld id="{A8326FB8-368C-48F3-ACBD-7DC17D7F746A}" type="slidenum">
              <a:rPr lang="en-GB" smtClean="0"/>
              <a:t>‹#›</a:t>
            </a:fld>
            <a:endParaRPr lang="en-GB"/>
          </a:p>
        </p:txBody>
      </p:sp>
    </p:spTree>
    <p:extLst>
      <p:ext uri="{BB962C8B-B14F-4D97-AF65-F5344CB8AC3E}">
        <p14:creationId xmlns:p14="http://schemas.microsoft.com/office/powerpoint/2010/main" val="2202650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831850" y="1709738"/>
            <a:ext cx="10515600" cy="2852737"/>
          </a:xfrm>
        </p:spPr>
        <p:txBody>
          <a:bodyPr anchor="b"/>
          <a:lstStyle>
            <a:lvl1pPr>
              <a:defRPr sz="6000"/>
            </a:lvl1pPr>
          </a:lstStyle>
          <a:p>
            <a:r>
              <a:rPr lang="cs-CZ" smtClean="0"/>
              <a:t>Kliknutím lze upravit styl.</a:t>
            </a:r>
            <a:endParaRPr lang="en-GB"/>
          </a:p>
        </p:txBody>
      </p:sp>
      <p:sp>
        <p:nvSpPr>
          <p:cNvPr id="3" name="Zástupný symbol pro tex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smtClean="0"/>
              <a:t>Upravte styly předlohy textu.</a:t>
            </a:r>
          </a:p>
        </p:txBody>
      </p:sp>
      <p:sp>
        <p:nvSpPr>
          <p:cNvPr id="4" name="Zástupný symbol pro datum 3"/>
          <p:cNvSpPr>
            <a:spLocks noGrp="1"/>
          </p:cNvSpPr>
          <p:nvPr>
            <p:ph type="dt" sz="half" idx="10"/>
          </p:nvPr>
        </p:nvSpPr>
        <p:spPr/>
        <p:txBody>
          <a:bodyPr/>
          <a:lstStyle/>
          <a:p>
            <a:fld id="{9F94A0B6-1981-47F0-9697-9F5934A31245}" type="datetimeFigureOut">
              <a:rPr lang="en-GB" smtClean="0"/>
              <a:t>16/04/2025</a:t>
            </a:fld>
            <a:endParaRPr lang="en-GB"/>
          </a:p>
        </p:txBody>
      </p:sp>
      <p:sp>
        <p:nvSpPr>
          <p:cNvPr id="5" name="Zástupný symbol pro zápatí 4"/>
          <p:cNvSpPr>
            <a:spLocks noGrp="1"/>
          </p:cNvSpPr>
          <p:nvPr>
            <p:ph type="ftr" sz="quarter" idx="11"/>
          </p:nvPr>
        </p:nvSpPr>
        <p:spPr/>
        <p:txBody>
          <a:bodyPr/>
          <a:lstStyle/>
          <a:p>
            <a:endParaRPr lang="en-GB"/>
          </a:p>
        </p:txBody>
      </p:sp>
      <p:sp>
        <p:nvSpPr>
          <p:cNvPr id="6" name="Zástupný symbol pro číslo snímku 5"/>
          <p:cNvSpPr>
            <a:spLocks noGrp="1"/>
          </p:cNvSpPr>
          <p:nvPr>
            <p:ph type="sldNum" sz="quarter" idx="12"/>
          </p:nvPr>
        </p:nvSpPr>
        <p:spPr/>
        <p:txBody>
          <a:bodyPr/>
          <a:lstStyle/>
          <a:p>
            <a:fld id="{A8326FB8-368C-48F3-ACBD-7DC17D7F746A}" type="slidenum">
              <a:rPr lang="en-GB" smtClean="0"/>
              <a:t>‹#›</a:t>
            </a:fld>
            <a:endParaRPr lang="en-GB"/>
          </a:p>
        </p:txBody>
      </p:sp>
    </p:spTree>
    <p:extLst>
      <p:ext uri="{BB962C8B-B14F-4D97-AF65-F5344CB8AC3E}">
        <p14:creationId xmlns:p14="http://schemas.microsoft.com/office/powerpoint/2010/main" val="2321168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en-GB"/>
          </a:p>
        </p:txBody>
      </p:sp>
      <p:sp>
        <p:nvSpPr>
          <p:cNvPr id="3" name="Zástupný symbol pro obsah 2"/>
          <p:cNvSpPr>
            <a:spLocks noGrp="1"/>
          </p:cNvSpPr>
          <p:nvPr>
            <p:ph sz="half" idx="1"/>
          </p:nvPr>
        </p:nvSpPr>
        <p:spPr>
          <a:xfrm>
            <a:off x="838200" y="1825625"/>
            <a:ext cx="5181600" cy="4351338"/>
          </a:xfrm>
        </p:spPr>
        <p:txBody>
          <a:bodyPr/>
          <a:lstStyle/>
          <a:p>
            <a:pPr lvl="0"/>
            <a:r>
              <a:rPr lang="cs-CZ" smtClean="0"/>
              <a:t>Upravte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GB"/>
          </a:p>
        </p:txBody>
      </p:sp>
      <p:sp>
        <p:nvSpPr>
          <p:cNvPr id="4" name="Zástupný symbol pro obsah 3"/>
          <p:cNvSpPr>
            <a:spLocks noGrp="1"/>
          </p:cNvSpPr>
          <p:nvPr>
            <p:ph sz="half" idx="2"/>
          </p:nvPr>
        </p:nvSpPr>
        <p:spPr>
          <a:xfrm>
            <a:off x="6172200" y="1825625"/>
            <a:ext cx="5181600" cy="4351338"/>
          </a:xfrm>
        </p:spPr>
        <p:txBody>
          <a:bodyPr/>
          <a:lstStyle/>
          <a:p>
            <a:pPr lvl="0"/>
            <a:r>
              <a:rPr lang="cs-CZ" smtClean="0"/>
              <a:t>Upravte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GB"/>
          </a:p>
        </p:txBody>
      </p:sp>
      <p:sp>
        <p:nvSpPr>
          <p:cNvPr id="5" name="Zástupný symbol pro datum 4"/>
          <p:cNvSpPr>
            <a:spLocks noGrp="1"/>
          </p:cNvSpPr>
          <p:nvPr>
            <p:ph type="dt" sz="half" idx="10"/>
          </p:nvPr>
        </p:nvSpPr>
        <p:spPr/>
        <p:txBody>
          <a:bodyPr/>
          <a:lstStyle/>
          <a:p>
            <a:fld id="{9F94A0B6-1981-47F0-9697-9F5934A31245}" type="datetimeFigureOut">
              <a:rPr lang="en-GB" smtClean="0"/>
              <a:t>16/04/2025</a:t>
            </a:fld>
            <a:endParaRPr lang="en-GB"/>
          </a:p>
        </p:txBody>
      </p:sp>
      <p:sp>
        <p:nvSpPr>
          <p:cNvPr id="6" name="Zástupný symbol pro zápatí 5"/>
          <p:cNvSpPr>
            <a:spLocks noGrp="1"/>
          </p:cNvSpPr>
          <p:nvPr>
            <p:ph type="ftr" sz="quarter" idx="11"/>
          </p:nvPr>
        </p:nvSpPr>
        <p:spPr/>
        <p:txBody>
          <a:bodyPr/>
          <a:lstStyle/>
          <a:p>
            <a:endParaRPr lang="en-GB"/>
          </a:p>
        </p:txBody>
      </p:sp>
      <p:sp>
        <p:nvSpPr>
          <p:cNvPr id="7" name="Zástupný symbol pro číslo snímku 6"/>
          <p:cNvSpPr>
            <a:spLocks noGrp="1"/>
          </p:cNvSpPr>
          <p:nvPr>
            <p:ph type="sldNum" sz="quarter" idx="12"/>
          </p:nvPr>
        </p:nvSpPr>
        <p:spPr/>
        <p:txBody>
          <a:bodyPr/>
          <a:lstStyle/>
          <a:p>
            <a:fld id="{A8326FB8-368C-48F3-ACBD-7DC17D7F746A}" type="slidenum">
              <a:rPr lang="en-GB" smtClean="0"/>
              <a:t>‹#›</a:t>
            </a:fld>
            <a:endParaRPr lang="en-GB"/>
          </a:p>
        </p:txBody>
      </p:sp>
    </p:spTree>
    <p:extLst>
      <p:ext uri="{BB962C8B-B14F-4D97-AF65-F5344CB8AC3E}">
        <p14:creationId xmlns:p14="http://schemas.microsoft.com/office/powerpoint/2010/main" val="3826105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a:xfrm>
            <a:off x="839788" y="365125"/>
            <a:ext cx="10515600" cy="1325563"/>
          </a:xfrm>
        </p:spPr>
        <p:txBody>
          <a:bodyPr/>
          <a:lstStyle/>
          <a:p>
            <a:r>
              <a:rPr lang="cs-CZ" smtClean="0"/>
              <a:t>Kliknutím lze upravit styl.</a:t>
            </a:r>
            <a:endParaRPr lang="en-GB"/>
          </a:p>
        </p:txBody>
      </p:sp>
      <p:sp>
        <p:nvSpPr>
          <p:cNvPr id="3" name="Zástupný symbol pro tex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smtClean="0"/>
              <a:t>Upravte styly předlohy textu.</a:t>
            </a:r>
          </a:p>
        </p:txBody>
      </p:sp>
      <p:sp>
        <p:nvSpPr>
          <p:cNvPr id="4" name="Zástupný symbol pro obsah 3"/>
          <p:cNvSpPr>
            <a:spLocks noGrp="1"/>
          </p:cNvSpPr>
          <p:nvPr>
            <p:ph sz="half" idx="2"/>
          </p:nvPr>
        </p:nvSpPr>
        <p:spPr>
          <a:xfrm>
            <a:off x="839788" y="2505075"/>
            <a:ext cx="5157787" cy="3684588"/>
          </a:xfrm>
        </p:spPr>
        <p:txBody>
          <a:bodyPr/>
          <a:lstStyle/>
          <a:p>
            <a:pPr lvl="0"/>
            <a:r>
              <a:rPr lang="cs-CZ" smtClean="0"/>
              <a:t>Upravte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GB"/>
          </a:p>
        </p:txBody>
      </p:sp>
      <p:sp>
        <p:nvSpPr>
          <p:cNvPr id="5" name="Zástupný symbol pro tex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smtClean="0"/>
              <a:t>Upravte styly předlohy textu.</a:t>
            </a:r>
          </a:p>
        </p:txBody>
      </p:sp>
      <p:sp>
        <p:nvSpPr>
          <p:cNvPr id="6" name="Zástupný symbol pro obsah 5"/>
          <p:cNvSpPr>
            <a:spLocks noGrp="1"/>
          </p:cNvSpPr>
          <p:nvPr>
            <p:ph sz="quarter" idx="4"/>
          </p:nvPr>
        </p:nvSpPr>
        <p:spPr>
          <a:xfrm>
            <a:off x="6172200" y="2505075"/>
            <a:ext cx="5183188" cy="3684588"/>
          </a:xfrm>
        </p:spPr>
        <p:txBody>
          <a:bodyPr/>
          <a:lstStyle/>
          <a:p>
            <a:pPr lvl="0"/>
            <a:r>
              <a:rPr lang="cs-CZ" smtClean="0"/>
              <a:t>Upravte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GB"/>
          </a:p>
        </p:txBody>
      </p:sp>
      <p:sp>
        <p:nvSpPr>
          <p:cNvPr id="7" name="Zástupný symbol pro datum 6"/>
          <p:cNvSpPr>
            <a:spLocks noGrp="1"/>
          </p:cNvSpPr>
          <p:nvPr>
            <p:ph type="dt" sz="half" idx="10"/>
          </p:nvPr>
        </p:nvSpPr>
        <p:spPr/>
        <p:txBody>
          <a:bodyPr/>
          <a:lstStyle/>
          <a:p>
            <a:fld id="{9F94A0B6-1981-47F0-9697-9F5934A31245}" type="datetimeFigureOut">
              <a:rPr lang="en-GB" smtClean="0"/>
              <a:t>16/04/2025</a:t>
            </a:fld>
            <a:endParaRPr lang="en-GB"/>
          </a:p>
        </p:txBody>
      </p:sp>
      <p:sp>
        <p:nvSpPr>
          <p:cNvPr id="8" name="Zástupný symbol pro zápatí 7"/>
          <p:cNvSpPr>
            <a:spLocks noGrp="1"/>
          </p:cNvSpPr>
          <p:nvPr>
            <p:ph type="ftr" sz="quarter" idx="11"/>
          </p:nvPr>
        </p:nvSpPr>
        <p:spPr/>
        <p:txBody>
          <a:bodyPr/>
          <a:lstStyle/>
          <a:p>
            <a:endParaRPr lang="en-GB"/>
          </a:p>
        </p:txBody>
      </p:sp>
      <p:sp>
        <p:nvSpPr>
          <p:cNvPr id="9" name="Zástupný symbol pro číslo snímku 8"/>
          <p:cNvSpPr>
            <a:spLocks noGrp="1"/>
          </p:cNvSpPr>
          <p:nvPr>
            <p:ph type="sldNum" sz="quarter" idx="12"/>
          </p:nvPr>
        </p:nvSpPr>
        <p:spPr/>
        <p:txBody>
          <a:bodyPr/>
          <a:lstStyle/>
          <a:p>
            <a:fld id="{A8326FB8-368C-48F3-ACBD-7DC17D7F746A}" type="slidenum">
              <a:rPr lang="en-GB" smtClean="0"/>
              <a:t>‹#›</a:t>
            </a:fld>
            <a:endParaRPr lang="en-GB"/>
          </a:p>
        </p:txBody>
      </p:sp>
    </p:spTree>
    <p:extLst>
      <p:ext uri="{BB962C8B-B14F-4D97-AF65-F5344CB8AC3E}">
        <p14:creationId xmlns:p14="http://schemas.microsoft.com/office/powerpoint/2010/main" val="2900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en-GB"/>
          </a:p>
        </p:txBody>
      </p:sp>
      <p:sp>
        <p:nvSpPr>
          <p:cNvPr id="3" name="Zástupný symbol pro datum 2"/>
          <p:cNvSpPr>
            <a:spLocks noGrp="1"/>
          </p:cNvSpPr>
          <p:nvPr>
            <p:ph type="dt" sz="half" idx="10"/>
          </p:nvPr>
        </p:nvSpPr>
        <p:spPr/>
        <p:txBody>
          <a:bodyPr/>
          <a:lstStyle/>
          <a:p>
            <a:fld id="{9F94A0B6-1981-47F0-9697-9F5934A31245}" type="datetimeFigureOut">
              <a:rPr lang="en-GB" smtClean="0"/>
              <a:t>16/04/2025</a:t>
            </a:fld>
            <a:endParaRPr lang="en-GB"/>
          </a:p>
        </p:txBody>
      </p:sp>
      <p:sp>
        <p:nvSpPr>
          <p:cNvPr id="4" name="Zástupný symbol pro zápatí 3"/>
          <p:cNvSpPr>
            <a:spLocks noGrp="1"/>
          </p:cNvSpPr>
          <p:nvPr>
            <p:ph type="ftr" sz="quarter" idx="11"/>
          </p:nvPr>
        </p:nvSpPr>
        <p:spPr/>
        <p:txBody>
          <a:bodyPr/>
          <a:lstStyle/>
          <a:p>
            <a:endParaRPr lang="en-GB"/>
          </a:p>
        </p:txBody>
      </p:sp>
      <p:sp>
        <p:nvSpPr>
          <p:cNvPr id="5" name="Zástupný symbol pro číslo snímku 4"/>
          <p:cNvSpPr>
            <a:spLocks noGrp="1"/>
          </p:cNvSpPr>
          <p:nvPr>
            <p:ph type="sldNum" sz="quarter" idx="12"/>
          </p:nvPr>
        </p:nvSpPr>
        <p:spPr/>
        <p:txBody>
          <a:bodyPr/>
          <a:lstStyle/>
          <a:p>
            <a:fld id="{A8326FB8-368C-48F3-ACBD-7DC17D7F746A}" type="slidenum">
              <a:rPr lang="en-GB" smtClean="0"/>
              <a:t>‹#›</a:t>
            </a:fld>
            <a:endParaRPr lang="en-GB"/>
          </a:p>
        </p:txBody>
      </p:sp>
    </p:spTree>
    <p:extLst>
      <p:ext uri="{BB962C8B-B14F-4D97-AF65-F5344CB8AC3E}">
        <p14:creationId xmlns:p14="http://schemas.microsoft.com/office/powerpoint/2010/main" val="1129664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p:cNvSpPr>
            <a:spLocks noGrp="1"/>
          </p:cNvSpPr>
          <p:nvPr>
            <p:ph type="dt" sz="half" idx="10"/>
          </p:nvPr>
        </p:nvSpPr>
        <p:spPr/>
        <p:txBody>
          <a:bodyPr/>
          <a:lstStyle/>
          <a:p>
            <a:fld id="{9F94A0B6-1981-47F0-9697-9F5934A31245}" type="datetimeFigureOut">
              <a:rPr lang="en-GB" smtClean="0"/>
              <a:t>16/04/2025</a:t>
            </a:fld>
            <a:endParaRPr lang="en-GB"/>
          </a:p>
        </p:txBody>
      </p:sp>
      <p:sp>
        <p:nvSpPr>
          <p:cNvPr id="3" name="Zástupný symbol pro zápatí 2"/>
          <p:cNvSpPr>
            <a:spLocks noGrp="1"/>
          </p:cNvSpPr>
          <p:nvPr>
            <p:ph type="ftr" sz="quarter" idx="11"/>
          </p:nvPr>
        </p:nvSpPr>
        <p:spPr/>
        <p:txBody>
          <a:bodyPr/>
          <a:lstStyle/>
          <a:p>
            <a:endParaRPr lang="en-GB"/>
          </a:p>
        </p:txBody>
      </p:sp>
      <p:sp>
        <p:nvSpPr>
          <p:cNvPr id="4" name="Zástupný symbol pro číslo snímku 3"/>
          <p:cNvSpPr>
            <a:spLocks noGrp="1"/>
          </p:cNvSpPr>
          <p:nvPr>
            <p:ph type="sldNum" sz="quarter" idx="12"/>
          </p:nvPr>
        </p:nvSpPr>
        <p:spPr/>
        <p:txBody>
          <a:bodyPr/>
          <a:lstStyle/>
          <a:p>
            <a:fld id="{A8326FB8-368C-48F3-ACBD-7DC17D7F746A}" type="slidenum">
              <a:rPr lang="en-GB" smtClean="0"/>
              <a:t>‹#›</a:t>
            </a:fld>
            <a:endParaRPr lang="en-GB"/>
          </a:p>
        </p:txBody>
      </p:sp>
    </p:spTree>
    <p:extLst>
      <p:ext uri="{BB962C8B-B14F-4D97-AF65-F5344CB8AC3E}">
        <p14:creationId xmlns:p14="http://schemas.microsoft.com/office/powerpoint/2010/main" val="1476159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839788" y="457200"/>
            <a:ext cx="3932237" cy="1600200"/>
          </a:xfrm>
        </p:spPr>
        <p:txBody>
          <a:bodyPr anchor="b"/>
          <a:lstStyle>
            <a:lvl1pPr>
              <a:defRPr sz="3200"/>
            </a:lvl1pPr>
          </a:lstStyle>
          <a:p>
            <a:r>
              <a:rPr lang="cs-CZ" smtClean="0"/>
              <a:t>Kliknutím lze upravit styl.</a:t>
            </a:r>
            <a:endParaRPr lang="en-GB"/>
          </a:p>
        </p:txBody>
      </p:sp>
      <p:sp>
        <p:nvSpPr>
          <p:cNvPr id="3" name="Zástupný symbol pro obsah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smtClean="0"/>
              <a:t>Upravte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GB"/>
          </a:p>
        </p:txBody>
      </p:sp>
      <p:sp>
        <p:nvSpPr>
          <p:cNvPr id="4" name="Zástupný symbol pro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smtClean="0"/>
              <a:t>Upravte styly předlohy textu.</a:t>
            </a:r>
          </a:p>
        </p:txBody>
      </p:sp>
      <p:sp>
        <p:nvSpPr>
          <p:cNvPr id="5" name="Zástupný symbol pro datum 4"/>
          <p:cNvSpPr>
            <a:spLocks noGrp="1"/>
          </p:cNvSpPr>
          <p:nvPr>
            <p:ph type="dt" sz="half" idx="10"/>
          </p:nvPr>
        </p:nvSpPr>
        <p:spPr/>
        <p:txBody>
          <a:bodyPr/>
          <a:lstStyle/>
          <a:p>
            <a:fld id="{9F94A0B6-1981-47F0-9697-9F5934A31245}" type="datetimeFigureOut">
              <a:rPr lang="en-GB" smtClean="0"/>
              <a:t>16/04/2025</a:t>
            </a:fld>
            <a:endParaRPr lang="en-GB"/>
          </a:p>
        </p:txBody>
      </p:sp>
      <p:sp>
        <p:nvSpPr>
          <p:cNvPr id="6" name="Zástupný symbol pro zápatí 5"/>
          <p:cNvSpPr>
            <a:spLocks noGrp="1"/>
          </p:cNvSpPr>
          <p:nvPr>
            <p:ph type="ftr" sz="quarter" idx="11"/>
          </p:nvPr>
        </p:nvSpPr>
        <p:spPr/>
        <p:txBody>
          <a:bodyPr/>
          <a:lstStyle/>
          <a:p>
            <a:endParaRPr lang="en-GB"/>
          </a:p>
        </p:txBody>
      </p:sp>
      <p:sp>
        <p:nvSpPr>
          <p:cNvPr id="7" name="Zástupný symbol pro číslo snímku 6"/>
          <p:cNvSpPr>
            <a:spLocks noGrp="1"/>
          </p:cNvSpPr>
          <p:nvPr>
            <p:ph type="sldNum" sz="quarter" idx="12"/>
          </p:nvPr>
        </p:nvSpPr>
        <p:spPr/>
        <p:txBody>
          <a:bodyPr/>
          <a:lstStyle/>
          <a:p>
            <a:fld id="{A8326FB8-368C-48F3-ACBD-7DC17D7F746A}" type="slidenum">
              <a:rPr lang="en-GB" smtClean="0"/>
              <a:t>‹#›</a:t>
            </a:fld>
            <a:endParaRPr lang="en-GB"/>
          </a:p>
        </p:txBody>
      </p:sp>
    </p:spTree>
    <p:extLst>
      <p:ext uri="{BB962C8B-B14F-4D97-AF65-F5344CB8AC3E}">
        <p14:creationId xmlns:p14="http://schemas.microsoft.com/office/powerpoint/2010/main" val="441433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839788" y="457200"/>
            <a:ext cx="3932237" cy="1600200"/>
          </a:xfrm>
        </p:spPr>
        <p:txBody>
          <a:bodyPr anchor="b"/>
          <a:lstStyle>
            <a:lvl1pPr>
              <a:defRPr sz="3200"/>
            </a:lvl1pPr>
          </a:lstStyle>
          <a:p>
            <a:r>
              <a:rPr lang="cs-CZ" smtClean="0"/>
              <a:t>Kliknutím lze upravit styl.</a:t>
            </a:r>
            <a:endParaRPr lang="en-GB"/>
          </a:p>
        </p:txBody>
      </p:sp>
      <p:sp>
        <p:nvSpPr>
          <p:cNvPr id="3" name="Zástupný symbol pro obrázek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Zástupný symbol pro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smtClean="0"/>
              <a:t>Upravte styly předlohy textu.</a:t>
            </a:r>
          </a:p>
        </p:txBody>
      </p:sp>
      <p:sp>
        <p:nvSpPr>
          <p:cNvPr id="5" name="Zástupný symbol pro datum 4"/>
          <p:cNvSpPr>
            <a:spLocks noGrp="1"/>
          </p:cNvSpPr>
          <p:nvPr>
            <p:ph type="dt" sz="half" idx="10"/>
          </p:nvPr>
        </p:nvSpPr>
        <p:spPr/>
        <p:txBody>
          <a:bodyPr/>
          <a:lstStyle/>
          <a:p>
            <a:fld id="{9F94A0B6-1981-47F0-9697-9F5934A31245}" type="datetimeFigureOut">
              <a:rPr lang="en-GB" smtClean="0"/>
              <a:t>16/04/2025</a:t>
            </a:fld>
            <a:endParaRPr lang="en-GB"/>
          </a:p>
        </p:txBody>
      </p:sp>
      <p:sp>
        <p:nvSpPr>
          <p:cNvPr id="6" name="Zástupný symbol pro zápatí 5"/>
          <p:cNvSpPr>
            <a:spLocks noGrp="1"/>
          </p:cNvSpPr>
          <p:nvPr>
            <p:ph type="ftr" sz="quarter" idx="11"/>
          </p:nvPr>
        </p:nvSpPr>
        <p:spPr/>
        <p:txBody>
          <a:bodyPr/>
          <a:lstStyle/>
          <a:p>
            <a:endParaRPr lang="en-GB"/>
          </a:p>
        </p:txBody>
      </p:sp>
      <p:sp>
        <p:nvSpPr>
          <p:cNvPr id="7" name="Zástupný symbol pro číslo snímku 6"/>
          <p:cNvSpPr>
            <a:spLocks noGrp="1"/>
          </p:cNvSpPr>
          <p:nvPr>
            <p:ph type="sldNum" sz="quarter" idx="12"/>
          </p:nvPr>
        </p:nvSpPr>
        <p:spPr/>
        <p:txBody>
          <a:bodyPr/>
          <a:lstStyle/>
          <a:p>
            <a:fld id="{A8326FB8-368C-48F3-ACBD-7DC17D7F746A}" type="slidenum">
              <a:rPr lang="en-GB" smtClean="0"/>
              <a:t>‹#›</a:t>
            </a:fld>
            <a:endParaRPr lang="en-GB"/>
          </a:p>
        </p:txBody>
      </p:sp>
    </p:spTree>
    <p:extLst>
      <p:ext uri="{BB962C8B-B14F-4D97-AF65-F5344CB8AC3E}">
        <p14:creationId xmlns:p14="http://schemas.microsoft.com/office/powerpoint/2010/main" val="2492114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en-GB"/>
          </a:p>
        </p:txBody>
      </p:sp>
      <p:sp>
        <p:nvSpPr>
          <p:cNvPr id="3" name="Zástupný symbol pro svislý text 2"/>
          <p:cNvSpPr>
            <a:spLocks noGrp="1"/>
          </p:cNvSpPr>
          <p:nvPr>
            <p:ph type="body" orient="vert" idx="1"/>
          </p:nvPr>
        </p:nvSpPr>
        <p:spPr/>
        <p:txBody>
          <a:bodyPr vert="eaVert"/>
          <a:lstStyle/>
          <a:p>
            <a:pPr lvl="0"/>
            <a:r>
              <a:rPr lang="cs-CZ" smtClean="0"/>
              <a:t>Upravte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GB"/>
          </a:p>
        </p:txBody>
      </p:sp>
      <p:sp>
        <p:nvSpPr>
          <p:cNvPr id="4" name="Zástupný symbol pro datum 3"/>
          <p:cNvSpPr>
            <a:spLocks noGrp="1"/>
          </p:cNvSpPr>
          <p:nvPr>
            <p:ph type="dt" sz="half" idx="10"/>
          </p:nvPr>
        </p:nvSpPr>
        <p:spPr/>
        <p:txBody>
          <a:bodyPr/>
          <a:lstStyle/>
          <a:p>
            <a:fld id="{9F94A0B6-1981-47F0-9697-9F5934A31245}" type="datetimeFigureOut">
              <a:rPr lang="en-GB" smtClean="0"/>
              <a:t>16/04/2025</a:t>
            </a:fld>
            <a:endParaRPr lang="en-GB"/>
          </a:p>
        </p:txBody>
      </p:sp>
      <p:sp>
        <p:nvSpPr>
          <p:cNvPr id="5" name="Zástupný symbol pro zápatí 4"/>
          <p:cNvSpPr>
            <a:spLocks noGrp="1"/>
          </p:cNvSpPr>
          <p:nvPr>
            <p:ph type="ftr" sz="quarter" idx="11"/>
          </p:nvPr>
        </p:nvSpPr>
        <p:spPr/>
        <p:txBody>
          <a:bodyPr/>
          <a:lstStyle/>
          <a:p>
            <a:endParaRPr lang="en-GB"/>
          </a:p>
        </p:txBody>
      </p:sp>
      <p:sp>
        <p:nvSpPr>
          <p:cNvPr id="6" name="Zástupný symbol pro číslo snímku 5"/>
          <p:cNvSpPr>
            <a:spLocks noGrp="1"/>
          </p:cNvSpPr>
          <p:nvPr>
            <p:ph type="sldNum" sz="quarter" idx="12"/>
          </p:nvPr>
        </p:nvSpPr>
        <p:spPr/>
        <p:txBody>
          <a:bodyPr/>
          <a:lstStyle/>
          <a:p>
            <a:fld id="{A8326FB8-368C-48F3-ACBD-7DC17D7F746A}" type="slidenum">
              <a:rPr lang="en-GB" smtClean="0"/>
              <a:t>‹#›</a:t>
            </a:fld>
            <a:endParaRPr lang="en-GB"/>
          </a:p>
        </p:txBody>
      </p:sp>
    </p:spTree>
    <p:extLst>
      <p:ext uri="{BB962C8B-B14F-4D97-AF65-F5344CB8AC3E}">
        <p14:creationId xmlns:p14="http://schemas.microsoft.com/office/powerpoint/2010/main" val="2007067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8724900" y="365125"/>
            <a:ext cx="2628900" cy="5811838"/>
          </a:xfrm>
        </p:spPr>
        <p:txBody>
          <a:bodyPr vert="eaVert"/>
          <a:lstStyle/>
          <a:p>
            <a:r>
              <a:rPr lang="cs-CZ" smtClean="0"/>
              <a:t>Kliknutím lze upravit styl.</a:t>
            </a:r>
            <a:endParaRPr lang="en-GB"/>
          </a:p>
        </p:txBody>
      </p:sp>
      <p:sp>
        <p:nvSpPr>
          <p:cNvPr id="3" name="Zástupný symbol pro svislý text 2"/>
          <p:cNvSpPr>
            <a:spLocks noGrp="1"/>
          </p:cNvSpPr>
          <p:nvPr>
            <p:ph type="body" orient="vert" idx="1"/>
          </p:nvPr>
        </p:nvSpPr>
        <p:spPr>
          <a:xfrm>
            <a:off x="838200" y="365125"/>
            <a:ext cx="7734300" cy="5811838"/>
          </a:xfrm>
        </p:spPr>
        <p:txBody>
          <a:bodyPr vert="eaVert"/>
          <a:lstStyle/>
          <a:p>
            <a:pPr lvl="0"/>
            <a:r>
              <a:rPr lang="cs-CZ" smtClean="0"/>
              <a:t>Upravte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GB"/>
          </a:p>
        </p:txBody>
      </p:sp>
      <p:sp>
        <p:nvSpPr>
          <p:cNvPr id="4" name="Zástupný symbol pro datum 3"/>
          <p:cNvSpPr>
            <a:spLocks noGrp="1"/>
          </p:cNvSpPr>
          <p:nvPr>
            <p:ph type="dt" sz="half" idx="10"/>
          </p:nvPr>
        </p:nvSpPr>
        <p:spPr/>
        <p:txBody>
          <a:bodyPr/>
          <a:lstStyle/>
          <a:p>
            <a:fld id="{9F94A0B6-1981-47F0-9697-9F5934A31245}" type="datetimeFigureOut">
              <a:rPr lang="en-GB" smtClean="0"/>
              <a:t>16/04/2025</a:t>
            </a:fld>
            <a:endParaRPr lang="en-GB"/>
          </a:p>
        </p:txBody>
      </p:sp>
      <p:sp>
        <p:nvSpPr>
          <p:cNvPr id="5" name="Zástupný symbol pro zápatí 4"/>
          <p:cNvSpPr>
            <a:spLocks noGrp="1"/>
          </p:cNvSpPr>
          <p:nvPr>
            <p:ph type="ftr" sz="quarter" idx="11"/>
          </p:nvPr>
        </p:nvSpPr>
        <p:spPr/>
        <p:txBody>
          <a:bodyPr/>
          <a:lstStyle/>
          <a:p>
            <a:endParaRPr lang="en-GB"/>
          </a:p>
        </p:txBody>
      </p:sp>
      <p:sp>
        <p:nvSpPr>
          <p:cNvPr id="6" name="Zástupný symbol pro číslo snímku 5"/>
          <p:cNvSpPr>
            <a:spLocks noGrp="1"/>
          </p:cNvSpPr>
          <p:nvPr>
            <p:ph type="sldNum" sz="quarter" idx="12"/>
          </p:nvPr>
        </p:nvSpPr>
        <p:spPr/>
        <p:txBody>
          <a:bodyPr/>
          <a:lstStyle/>
          <a:p>
            <a:fld id="{A8326FB8-368C-48F3-ACBD-7DC17D7F746A}" type="slidenum">
              <a:rPr lang="en-GB" smtClean="0"/>
              <a:t>‹#›</a:t>
            </a:fld>
            <a:endParaRPr lang="en-GB"/>
          </a:p>
        </p:txBody>
      </p:sp>
    </p:spTree>
    <p:extLst>
      <p:ext uri="{BB962C8B-B14F-4D97-AF65-F5344CB8AC3E}">
        <p14:creationId xmlns:p14="http://schemas.microsoft.com/office/powerpoint/2010/main" val="1882530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nadpis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smtClean="0"/>
              <a:t>Kliknutím lze upravit styl.</a:t>
            </a:r>
            <a:endParaRPr lang="en-GB"/>
          </a:p>
        </p:txBody>
      </p:sp>
      <p:sp>
        <p:nvSpPr>
          <p:cNvPr id="3" name="Zástupný symbol pro tex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smtClean="0"/>
              <a:t>Upravte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GB"/>
          </a:p>
        </p:txBody>
      </p:sp>
      <p:sp>
        <p:nvSpPr>
          <p:cNvPr id="4" name="Zástupný symbol pro datum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94A0B6-1981-47F0-9697-9F5934A31245}" type="datetimeFigureOut">
              <a:rPr lang="en-GB" smtClean="0"/>
              <a:t>16/04/2025</a:t>
            </a:fld>
            <a:endParaRPr lang="en-GB"/>
          </a:p>
        </p:txBody>
      </p:sp>
      <p:sp>
        <p:nvSpPr>
          <p:cNvPr id="5" name="Zástupný symbol pro zápatí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Zástupný symbol pro číslo snímk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326FB8-368C-48F3-ACBD-7DC17D7F746A}" type="slidenum">
              <a:rPr lang="en-GB" smtClean="0"/>
              <a:t>‹#›</a:t>
            </a:fld>
            <a:endParaRPr lang="en-GB"/>
          </a:p>
        </p:txBody>
      </p:sp>
    </p:spTree>
    <p:extLst>
      <p:ext uri="{BB962C8B-B14F-4D97-AF65-F5344CB8AC3E}">
        <p14:creationId xmlns:p14="http://schemas.microsoft.com/office/powerpoint/2010/main" val="35589437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huggingface.co/" TargetMode="External"/><Relationship Id="rId13" Type="http://schemas.openxmlformats.org/officeDocument/2006/relationships/hyperlink" Target="https://deepseek.ai/" TargetMode="External"/><Relationship Id="rId3" Type="http://schemas.openxmlformats.org/officeDocument/2006/relationships/hyperlink" Target="claude.ai" TargetMode="External"/><Relationship Id="rId7" Type="http://schemas.openxmlformats.org/officeDocument/2006/relationships/hyperlink" Target="mistral.ai" TargetMode="External"/><Relationship Id="rId12" Type="http://schemas.openxmlformats.org/officeDocument/2006/relationships/hyperlink" Target="https://x.ai/api" TargetMode="External"/><Relationship Id="rId2" Type="http://schemas.openxmlformats.org/officeDocument/2006/relationships/hyperlink" Target="https://chatgpt.com/" TargetMode="External"/><Relationship Id="rId1" Type="http://schemas.openxmlformats.org/officeDocument/2006/relationships/slideLayout" Target="../slideLayouts/slideLayout1.xml"/><Relationship Id="rId6" Type="http://schemas.openxmlformats.org/officeDocument/2006/relationships/hyperlink" Target="https://www.llama.com/" TargetMode="External"/><Relationship Id="rId11" Type="http://schemas.openxmlformats.org/officeDocument/2006/relationships/hyperlink" Target="https://x.ai/" TargetMode="External"/><Relationship Id="rId5" Type="http://schemas.openxmlformats.org/officeDocument/2006/relationships/hyperlink" Target="https://gemini.google.com/app" TargetMode="External"/><Relationship Id="rId10" Type="http://schemas.openxmlformats.org/officeDocument/2006/relationships/hyperlink" Target="https://developer.ibm.com/tutorials/awb-fine-tune-granite-model-instructlab/" TargetMode="External"/><Relationship Id="rId4" Type="http://schemas.openxmlformats.org/officeDocument/2006/relationships/hyperlink" Target="https://zapier.com/blog/claude-artifacts/" TargetMode="External"/><Relationship Id="rId9" Type="http://schemas.openxmlformats.org/officeDocument/2006/relationships/hyperlink" Target="https://www.ibm.com/granite" TargetMode="External"/><Relationship Id="rId14" Type="http://schemas.openxmlformats.org/officeDocument/2006/relationships/hyperlink" Target="https://chat.qwen.ai/"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lm.arena.ai" TargetMode="External"/><Relationship Id="rId2" Type="http://schemas.openxmlformats.org/officeDocument/2006/relationships/hyperlink" Target="huggingface.co/spaces/open-llm-leaderboard" TargetMode="External"/><Relationship Id="rId1" Type="http://schemas.openxmlformats.org/officeDocument/2006/relationships/slideLayout" Target="../slideLayouts/slideLayout2.xml"/><Relationship Id="rId4" Type="http://schemas.openxmlformats.org/officeDocument/2006/relationships/hyperlink" Target="huggingface.co"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perplexity.ai" TargetMode="External"/><Relationship Id="rId13" Type="http://schemas.openxmlformats.org/officeDocument/2006/relationships/hyperlink" Target="https://colab.research.google.com/" TargetMode="External"/><Relationship Id="rId3" Type="http://schemas.openxmlformats.org/officeDocument/2006/relationships/hyperlink" Target="https://www.cursor.sh" TargetMode="External"/><Relationship Id="rId7" Type="http://schemas.openxmlformats.org/officeDocument/2006/relationships/hyperlink" Target="https://github.com/openai/whisper" TargetMode="External"/><Relationship Id="rId12" Type="http://schemas.openxmlformats.org/officeDocument/2006/relationships/hyperlink" Target="https://www.cesky.ai" TargetMode="External"/><Relationship Id="rId2" Type="http://schemas.openxmlformats.org/officeDocument/2006/relationships/hyperlink" Target="https://aistudio.google.com" TargetMode="External"/><Relationship Id="rId1" Type="http://schemas.openxmlformats.org/officeDocument/2006/relationships/slideLayout" Target="../slideLayouts/slideLayout2.xml"/><Relationship Id="rId6" Type="http://schemas.openxmlformats.org/officeDocument/2006/relationships/hyperlink" Target="https://www.deepl.com/cs/translator" TargetMode="External"/><Relationship Id="rId11" Type="http://schemas.openxmlformats.org/officeDocument/2006/relationships/hyperlink" Target="https://notebooklm.google.com" TargetMode="External"/><Relationship Id="rId5" Type="http://schemas.openxmlformats.org/officeDocument/2006/relationships/hyperlink" Target="https://aider.chat" TargetMode="External"/><Relationship Id="rId10" Type="http://schemas.openxmlformats.org/officeDocument/2006/relationships/hyperlink" Target="https://www.tldv.io" TargetMode="External"/><Relationship Id="rId4" Type="http://schemas.openxmlformats.org/officeDocument/2006/relationships/hyperlink" Target="https://firebase.google.com" TargetMode="External"/><Relationship Id="rId9" Type="http://schemas.openxmlformats.org/officeDocument/2006/relationships/hyperlink" Target="https://elicit.org"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pydantic.dev/" TargetMode="External"/><Relationship Id="rId7" Type="http://schemas.openxmlformats.org/officeDocument/2006/relationships/hyperlink" Target="https://lmstudio.ai/" TargetMode="External"/><Relationship Id="rId2" Type="http://schemas.openxmlformats.org/officeDocument/2006/relationships/hyperlink" Target="https://www.langchain.com/" TargetMode="Externa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huggingface.co/docs/transformers/en/index" TargetMode="External"/><Relationship Id="rId4" Type="http://schemas.openxmlformats.org/officeDocument/2006/relationships/hyperlink" Target="https://faiss.ai/"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colab.research.google.com/drive/1KWu9TUSmmkWtnJs66PMAy8SVPMmr8seA?usp=shari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ctrTitle"/>
          </p:nvPr>
        </p:nvSpPr>
        <p:spPr/>
        <p:txBody>
          <a:bodyPr/>
          <a:lstStyle/>
          <a:p>
            <a:r>
              <a:rPr lang="cs-CZ" b="1" smtClean="0">
                <a:latin typeface="Garamond" panose="02020404030301010803" pitchFamily="18" charset="0"/>
              </a:rPr>
              <a:t>Praktická část</a:t>
            </a:r>
            <a:endParaRPr lang="en-GB" b="1">
              <a:latin typeface="Garamond" panose="02020404030301010803" pitchFamily="18" charset="0"/>
            </a:endParaRPr>
          </a:p>
        </p:txBody>
      </p:sp>
    </p:spTree>
    <p:extLst>
      <p:ext uri="{BB962C8B-B14F-4D97-AF65-F5344CB8AC3E}">
        <p14:creationId xmlns:p14="http://schemas.microsoft.com/office/powerpoint/2010/main" val="6497336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ulka 6"/>
          <p:cNvGraphicFramePr>
            <a:graphicFrameLocks noGrp="1"/>
          </p:cNvGraphicFramePr>
          <p:nvPr>
            <p:extLst>
              <p:ext uri="{D42A27DB-BD31-4B8C-83A1-F6EECF244321}">
                <p14:modId xmlns:p14="http://schemas.microsoft.com/office/powerpoint/2010/main" val="1978028248"/>
              </p:ext>
            </p:extLst>
          </p:nvPr>
        </p:nvGraphicFramePr>
        <p:xfrm>
          <a:off x="272024" y="71607"/>
          <a:ext cx="11672787" cy="6676440"/>
        </p:xfrm>
        <a:graphic>
          <a:graphicData uri="http://schemas.openxmlformats.org/drawingml/2006/table">
            <a:tbl>
              <a:tblPr firstRow="1" bandRow="1">
                <a:tableStyleId>{5C22544A-7EE6-4342-B048-85BDC9FD1C3A}</a:tableStyleId>
              </a:tblPr>
              <a:tblGrid>
                <a:gridCol w="1427355">
                  <a:extLst>
                    <a:ext uri="{9D8B030D-6E8A-4147-A177-3AD203B41FA5}">
                      <a16:colId xmlns:a16="http://schemas.microsoft.com/office/drawing/2014/main" val="3507698384"/>
                    </a:ext>
                  </a:extLst>
                </a:gridCol>
                <a:gridCol w="1049709">
                  <a:extLst>
                    <a:ext uri="{9D8B030D-6E8A-4147-A177-3AD203B41FA5}">
                      <a16:colId xmlns:a16="http://schemas.microsoft.com/office/drawing/2014/main" val="1127332839"/>
                    </a:ext>
                  </a:extLst>
                </a:gridCol>
                <a:gridCol w="4172989">
                  <a:extLst>
                    <a:ext uri="{9D8B030D-6E8A-4147-A177-3AD203B41FA5}">
                      <a16:colId xmlns:a16="http://schemas.microsoft.com/office/drawing/2014/main" val="4069972107"/>
                    </a:ext>
                  </a:extLst>
                </a:gridCol>
                <a:gridCol w="1404851">
                  <a:extLst>
                    <a:ext uri="{9D8B030D-6E8A-4147-A177-3AD203B41FA5}">
                      <a16:colId xmlns:a16="http://schemas.microsoft.com/office/drawing/2014/main" val="1081216004"/>
                    </a:ext>
                  </a:extLst>
                </a:gridCol>
                <a:gridCol w="3617883">
                  <a:extLst>
                    <a:ext uri="{9D8B030D-6E8A-4147-A177-3AD203B41FA5}">
                      <a16:colId xmlns:a16="http://schemas.microsoft.com/office/drawing/2014/main" val="4112709074"/>
                    </a:ext>
                  </a:extLst>
                </a:gridCol>
              </a:tblGrid>
              <a:tr h="246212">
                <a:tc>
                  <a:txBody>
                    <a:bodyPr/>
                    <a:lstStyle/>
                    <a:p>
                      <a:pPr algn="just"/>
                      <a:r>
                        <a:rPr lang="cs-CZ" sz="1200" smtClean="0"/>
                        <a:t>Model</a:t>
                      </a:r>
                      <a:endParaRPr lang="en-GB" sz="1200"/>
                    </a:p>
                  </a:txBody>
                  <a:tcPr/>
                </a:tc>
                <a:tc>
                  <a:txBody>
                    <a:bodyPr/>
                    <a:lstStyle/>
                    <a:p>
                      <a:pPr algn="just"/>
                      <a:r>
                        <a:rPr lang="cs-CZ" sz="1200" smtClean="0"/>
                        <a:t>Výrobce</a:t>
                      </a:r>
                      <a:endParaRPr lang="en-GB" sz="1200"/>
                    </a:p>
                  </a:txBody>
                  <a:tcPr/>
                </a:tc>
                <a:tc>
                  <a:txBody>
                    <a:bodyPr/>
                    <a:lstStyle/>
                    <a:p>
                      <a:pPr algn="just"/>
                      <a:r>
                        <a:rPr lang="cs-CZ" sz="1200" smtClean="0"/>
                        <a:t>K čemu</a:t>
                      </a:r>
                      <a:endParaRPr lang="en-GB" sz="1200"/>
                    </a:p>
                  </a:txBody>
                  <a:tcPr/>
                </a:tc>
                <a:tc>
                  <a:txBody>
                    <a:bodyPr/>
                    <a:lstStyle/>
                    <a:p>
                      <a:pPr algn="just"/>
                      <a:r>
                        <a:rPr lang="cs-CZ" sz="1200" smtClean="0"/>
                        <a:t>Licence</a:t>
                      </a:r>
                      <a:endParaRPr lang="en-GB" sz="1200"/>
                    </a:p>
                  </a:txBody>
                  <a:tcPr/>
                </a:tc>
                <a:tc>
                  <a:txBody>
                    <a:bodyPr/>
                    <a:lstStyle/>
                    <a:p>
                      <a:pPr algn="just"/>
                      <a:r>
                        <a:rPr lang="cs-CZ" sz="1200" smtClean="0"/>
                        <a:t>Další</a:t>
                      </a:r>
                      <a:endParaRPr lang="en-GB" sz="1200"/>
                    </a:p>
                  </a:txBody>
                  <a:tcPr/>
                </a:tc>
                <a:extLst>
                  <a:ext uri="{0D108BD9-81ED-4DB2-BD59-A6C34878D82A}">
                    <a16:rowId xmlns:a16="http://schemas.microsoft.com/office/drawing/2014/main" val="2042131961"/>
                  </a:ext>
                </a:extLst>
              </a:tr>
              <a:tr h="549960">
                <a:tc>
                  <a:txBody>
                    <a:bodyPr/>
                    <a:lstStyle/>
                    <a:p>
                      <a:pPr algn="just"/>
                      <a:r>
                        <a:rPr lang="cs-CZ" sz="1200" smtClean="0">
                          <a:hlinkClick r:id="rId2"/>
                        </a:rPr>
                        <a:t>chatGPT</a:t>
                      </a:r>
                      <a:endParaRPr lang="en-GB" sz="1200"/>
                    </a:p>
                  </a:txBody>
                  <a:tcPr/>
                </a:tc>
                <a:tc>
                  <a:txBody>
                    <a:bodyPr/>
                    <a:lstStyle/>
                    <a:p>
                      <a:pPr algn="l"/>
                      <a:r>
                        <a:rPr lang="en-GB" sz="1200" smtClean="0"/>
                        <a:t>OpenAI </a:t>
                      </a:r>
                      <a:r>
                        <a:rPr lang="cs-CZ" sz="1200" smtClean="0"/>
                        <a:t>(USA)</a:t>
                      </a:r>
                      <a:endParaRPr lang="en-GB" sz="1200"/>
                    </a:p>
                  </a:txBody>
                  <a:tcPr/>
                </a:tc>
                <a:tc>
                  <a:txBody>
                    <a:bodyPr/>
                    <a:lstStyle/>
                    <a:p>
                      <a:pPr algn="just"/>
                      <a:r>
                        <a:rPr lang="en-GB" sz="1200" smtClean="0"/>
                        <a:t>Obecný LLM nejvyšší třídy pro široké spektrum úloh (chatbot, tvorba textu, kódování).</a:t>
                      </a:r>
                      <a:endParaRPr lang="en-GB" sz="1200"/>
                    </a:p>
                  </a:txBody>
                  <a:tcPr/>
                </a:tc>
                <a:tc>
                  <a:txBody>
                    <a:bodyPr/>
                    <a:lstStyle/>
                    <a:p>
                      <a:pPr algn="just"/>
                      <a:r>
                        <a:rPr lang="en-GB" sz="1200" smtClean="0"/>
                        <a:t>Proprietární (uzavřený)​</a:t>
                      </a:r>
                      <a:endParaRPr lang="en-GB" sz="1200"/>
                    </a:p>
                  </a:txBody>
                  <a:tcPr/>
                </a:tc>
                <a:tc>
                  <a:txBody>
                    <a:bodyPr/>
                    <a:lstStyle/>
                    <a:p>
                      <a:pPr algn="just"/>
                      <a:r>
                        <a:rPr lang="en-GB" sz="1200" smtClean="0"/>
                        <a:t>Přístupný skrze API (placený)</a:t>
                      </a:r>
                      <a:r>
                        <a:rPr lang="cs-CZ" sz="1200" smtClean="0"/>
                        <a:t>. Funkce projektů, custom GPT modelů,…</a:t>
                      </a:r>
                      <a:endParaRPr lang="en-GB" sz="1200"/>
                    </a:p>
                  </a:txBody>
                  <a:tcPr/>
                </a:tc>
                <a:extLst>
                  <a:ext uri="{0D108BD9-81ED-4DB2-BD59-A6C34878D82A}">
                    <a16:rowId xmlns:a16="http://schemas.microsoft.com/office/drawing/2014/main" val="2390339749"/>
                  </a:ext>
                </a:extLst>
              </a:tr>
              <a:tr h="574495">
                <a:tc>
                  <a:txBody>
                    <a:bodyPr/>
                    <a:lstStyle/>
                    <a:p>
                      <a:pPr algn="just"/>
                      <a:r>
                        <a:rPr lang="cs-CZ" sz="1200" smtClean="0">
                          <a:hlinkClick r:id="rId3"/>
                        </a:rPr>
                        <a:t>Claude</a:t>
                      </a:r>
                      <a:endParaRPr lang="en-GB" sz="1200"/>
                    </a:p>
                  </a:txBody>
                  <a:tcPr/>
                </a:tc>
                <a:tc>
                  <a:txBody>
                    <a:bodyPr/>
                    <a:lstStyle/>
                    <a:p>
                      <a:pPr algn="l"/>
                      <a:r>
                        <a:rPr lang="en-GB" sz="1200" smtClean="0"/>
                        <a:t>Anthropic</a:t>
                      </a:r>
                      <a:r>
                        <a:rPr lang="cs-CZ" sz="1200" smtClean="0"/>
                        <a:t> (Francie)</a:t>
                      </a:r>
                      <a:endParaRPr lang="en-GB" sz="1200"/>
                    </a:p>
                  </a:txBody>
                  <a:tcPr/>
                </a:tc>
                <a:tc>
                  <a:txBody>
                    <a:bodyPr/>
                    <a:lstStyle/>
                    <a:p>
                      <a:pPr algn="just"/>
                      <a:r>
                        <a:rPr lang="en-GB" sz="1200" smtClean="0"/>
                        <a:t>Asistenční AI model zaměřený na dialog a psaní. </a:t>
                      </a:r>
                      <a:r>
                        <a:rPr lang="cs-CZ" sz="1200" smtClean="0"/>
                        <a:t>Verze Sonnet 3.7 exceluje v programování.</a:t>
                      </a:r>
                      <a:endParaRPr lang="en-GB" sz="120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GB" sz="1200" smtClean="0"/>
                        <a:t>Proprietární (uzavřený)​</a:t>
                      </a:r>
                    </a:p>
                    <a:p>
                      <a:pPr algn="just"/>
                      <a:endParaRPr lang="en-GB" sz="1200"/>
                    </a:p>
                  </a:txBody>
                  <a:tcPr/>
                </a:tc>
                <a:tc>
                  <a:txBody>
                    <a:bodyPr/>
                    <a:lstStyle/>
                    <a:p>
                      <a:pPr algn="just"/>
                      <a:r>
                        <a:rPr lang="en-GB" sz="1200" smtClean="0"/>
                        <a:t>Funkce </a:t>
                      </a:r>
                      <a:r>
                        <a:rPr lang="cs-CZ" sz="1200" smtClean="0">
                          <a:hlinkClick r:id="rId4"/>
                        </a:rPr>
                        <a:t>artifacts</a:t>
                      </a:r>
                      <a:r>
                        <a:rPr lang="en-GB" sz="1200" smtClean="0"/>
                        <a:t> v Claude umožňuje vytvářet a upravovat samostatné obsahové prvky, které přetrvávají během celé konverzace.</a:t>
                      </a:r>
                      <a:endParaRPr lang="en-GB" sz="1200"/>
                    </a:p>
                  </a:txBody>
                  <a:tcPr/>
                </a:tc>
                <a:extLst>
                  <a:ext uri="{0D108BD9-81ED-4DB2-BD59-A6C34878D82A}">
                    <a16:rowId xmlns:a16="http://schemas.microsoft.com/office/drawing/2014/main" val="3732987461"/>
                  </a:ext>
                </a:extLst>
              </a:tr>
              <a:tr h="410353">
                <a:tc>
                  <a:txBody>
                    <a:bodyPr/>
                    <a:lstStyle/>
                    <a:p>
                      <a:pPr algn="just"/>
                      <a:r>
                        <a:rPr lang="en-GB" sz="1200" smtClean="0">
                          <a:hlinkClick r:id="rId5"/>
                        </a:rPr>
                        <a:t>Gemini</a:t>
                      </a:r>
                      <a:endParaRPr lang="en-GB" sz="1200"/>
                    </a:p>
                  </a:txBody>
                  <a:tcPr/>
                </a:tc>
                <a:tc>
                  <a:txBody>
                    <a:bodyPr/>
                    <a:lstStyle/>
                    <a:p>
                      <a:pPr algn="l"/>
                      <a:r>
                        <a:rPr lang="cs-CZ" sz="1200" smtClean="0"/>
                        <a:t>Google Deep Mind (USA)</a:t>
                      </a:r>
                      <a:endParaRPr lang="en-GB" sz="1200"/>
                    </a:p>
                  </a:txBody>
                  <a:tcPr/>
                </a:tc>
                <a:tc>
                  <a:txBody>
                    <a:bodyPr/>
                    <a:lstStyle/>
                    <a:p>
                      <a:pPr algn="just"/>
                      <a:r>
                        <a:rPr lang="cs-CZ" sz="1200" smtClean="0"/>
                        <a:t>Obecný LLM, propojení s dalšími službami google (Colab, NotebookLM,…).</a:t>
                      </a:r>
                      <a:endParaRPr lang="en-GB" sz="1200"/>
                    </a:p>
                  </a:txBody>
                  <a:tcPr/>
                </a:tc>
                <a:tc>
                  <a:txBody>
                    <a:bodyPr/>
                    <a:lstStyle/>
                    <a:p>
                      <a:pPr algn="just"/>
                      <a:r>
                        <a:rPr lang="cs-CZ" sz="1200" smtClean="0"/>
                        <a:t>K dispozici verze zdarma i uzavřená.</a:t>
                      </a:r>
                      <a:endParaRPr lang="en-GB" sz="1200"/>
                    </a:p>
                  </a:txBody>
                  <a:tcPr/>
                </a:tc>
                <a:tc>
                  <a:txBody>
                    <a:bodyPr/>
                    <a:lstStyle/>
                    <a:p>
                      <a:pPr algn="just"/>
                      <a:r>
                        <a:rPr lang="cs-CZ" sz="1200" smtClean="0"/>
                        <a:t>Aktuální verze má kontextové okno 2 miliony tokenů (zdarma)!</a:t>
                      </a:r>
                      <a:endParaRPr lang="en-GB" sz="1200"/>
                    </a:p>
                  </a:txBody>
                  <a:tcPr/>
                </a:tc>
                <a:extLst>
                  <a:ext uri="{0D108BD9-81ED-4DB2-BD59-A6C34878D82A}">
                    <a16:rowId xmlns:a16="http://schemas.microsoft.com/office/drawing/2014/main" val="3123222652"/>
                  </a:ext>
                </a:extLst>
              </a:tr>
              <a:tr h="738636">
                <a:tc>
                  <a:txBody>
                    <a:bodyPr/>
                    <a:lstStyle/>
                    <a:p>
                      <a:pPr algn="just"/>
                      <a:r>
                        <a:rPr lang="en-GB" sz="1200" smtClean="0">
                          <a:hlinkClick r:id="rId6"/>
                        </a:rPr>
                        <a:t>LLaMA</a:t>
                      </a:r>
                      <a:endParaRPr lang="en-GB" sz="1200"/>
                    </a:p>
                  </a:txBody>
                  <a:tcPr/>
                </a:tc>
                <a:tc>
                  <a:txBody>
                    <a:bodyPr/>
                    <a:lstStyle/>
                    <a:p>
                      <a:pPr algn="l"/>
                      <a:r>
                        <a:rPr lang="cs-CZ" sz="1200" smtClean="0"/>
                        <a:t>Meta (USA)</a:t>
                      </a:r>
                      <a:endParaRPr lang="en-GB" sz="1200"/>
                    </a:p>
                  </a:txBody>
                  <a:tcPr/>
                </a:tc>
                <a:tc>
                  <a:txBody>
                    <a:bodyPr/>
                    <a:lstStyle/>
                    <a:p>
                      <a:pPr algn="just"/>
                      <a:r>
                        <a:rPr lang="en-GB" sz="1200" smtClean="0"/>
                        <a:t>Rodina open-source LLM modelů (7B, 13B, 70B parametrů) určených pro široké využití. Populární jako volně dostupná alternativa k uzavřeným modelům (ChatGPT, atd.).</a:t>
                      </a:r>
                      <a:endParaRPr lang="en-GB" sz="1200"/>
                    </a:p>
                  </a:txBody>
                  <a:tcPr>
                    <a:lnB w="12700" cmpd="sng">
                      <a:noFill/>
                    </a:lnB>
                  </a:tcPr>
                </a:tc>
                <a:tc>
                  <a:txBody>
                    <a:bodyPr/>
                    <a:lstStyle/>
                    <a:p>
                      <a:pPr algn="just"/>
                      <a:r>
                        <a:rPr lang="cs-CZ" sz="1200" smtClean="0"/>
                        <a:t>Meta Llama License (source-available, omezené komerční využití)</a:t>
                      </a:r>
                      <a:endParaRPr lang="en-GB" sz="120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cs-CZ" sz="1200" smtClean="0"/>
                        <a:t>Ke stažení a provozu na lokálním PC. </a:t>
                      </a:r>
                      <a:r>
                        <a:rPr lang="en-GB" sz="1200" smtClean="0"/>
                        <a:t>Open-source modely (váhy volně dostupné). Vyžaduje souhlas s licencí výrobce. Široce adoptován komunitou; dostupné varianty včetně předučených </a:t>
                      </a:r>
                      <a:r>
                        <a:rPr lang="cs-CZ" sz="1200" smtClean="0"/>
                        <a:t>na nejrůznější úkoly.</a:t>
                      </a:r>
                      <a:endParaRPr lang="en-GB" sz="1200"/>
                    </a:p>
                  </a:txBody>
                  <a:tcPr/>
                </a:tc>
                <a:extLst>
                  <a:ext uri="{0D108BD9-81ED-4DB2-BD59-A6C34878D82A}">
                    <a16:rowId xmlns:a16="http://schemas.microsoft.com/office/drawing/2014/main" val="378636350"/>
                  </a:ext>
                </a:extLst>
              </a:tr>
              <a:tr h="902777">
                <a:tc>
                  <a:txBody>
                    <a:bodyPr/>
                    <a:lstStyle/>
                    <a:p>
                      <a:pPr algn="just"/>
                      <a:r>
                        <a:rPr lang="en-GB" sz="1200" smtClean="0">
                          <a:hlinkClick r:id="rId7"/>
                        </a:rPr>
                        <a:t>Mistral</a:t>
                      </a:r>
                      <a:endParaRPr lang="en-GB" sz="1200"/>
                    </a:p>
                  </a:txBody>
                  <a:tcPr/>
                </a:tc>
                <a:tc>
                  <a:txBody>
                    <a:bodyPr/>
                    <a:lstStyle/>
                    <a:p>
                      <a:pPr algn="l"/>
                      <a:r>
                        <a:rPr lang="en-GB" sz="1200" smtClean="0"/>
                        <a:t>Mistral</a:t>
                      </a:r>
                      <a:r>
                        <a:rPr lang="cs-CZ" sz="1200" baseline="0" smtClean="0"/>
                        <a:t> AI (francie)</a:t>
                      </a:r>
                      <a:endParaRPr lang="en-GB" sz="1200"/>
                    </a:p>
                  </a:txBody>
                  <a:tcPr>
                    <a:lnR w="12700" cmpd="sng">
                      <a:noFill/>
                    </a:lnR>
                  </a:tcPr>
                </a:tc>
                <a:tc>
                  <a:txBody>
                    <a:bodyPr/>
                    <a:lstStyle/>
                    <a:p>
                      <a:pPr algn="just"/>
                      <a:r>
                        <a:rPr lang="en-GB" sz="1200" smtClean="0"/>
                        <a:t>Kompaktní open-source s překvapivě vysokým výkonem vzhledem k velikosti. Vhodný pro nasazení na běžném HW.</a:t>
                      </a:r>
                    </a:p>
                    <a:p>
                      <a:pPr algn="just"/>
                      <a:endParaRPr lang="en-GB" sz="12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GB" sz="1200" smtClean="0"/>
                        <a:t>Apache 2.0 (open-source)</a:t>
                      </a:r>
                      <a:endParaRPr lang="en-GB" sz="1200"/>
                    </a:p>
                  </a:txBody>
                  <a:tcPr>
                    <a:lnL w="12700" cmpd="sng">
                      <a:noFill/>
                    </a:lnL>
                  </a:tcPr>
                </a:tc>
                <a:tc>
                  <a:txBody>
                    <a:bodyPr/>
                    <a:lstStyle/>
                    <a:p>
                      <a:pPr algn="just"/>
                      <a:r>
                        <a:rPr lang="en-GB" sz="1200" smtClean="0"/>
                        <a:t>Otevřený model. Široce používaný v komunitě (dostupný na</a:t>
                      </a:r>
                      <a:r>
                        <a:rPr lang="cs-CZ" sz="1200" smtClean="0"/>
                        <a:t>př</a:t>
                      </a:r>
                      <a:r>
                        <a:rPr lang="cs-CZ" sz="1200" baseline="0" smtClean="0"/>
                        <a:t> na </a:t>
                      </a:r>
                      <a:r>
                        <a:rPr lang="en-GB" sz="1200" smtClean="0">
                          <a:hlinkClick r:id="rId8"/>
                        </a:rPr>
                        <a:t>https://huggingface.co/</a:t>
                      </a:r>
                      <a:r>
                        <a:rPr lang="en-GB" sz="1200" smtClean="0"/>
                        <a:t>).</a:t>
                      </a:r>
                      <a:r>
                        <a:rPr lang="cs-CZ" sz="1200" smtClean="0"/>
                        <a:t> Verze Mistral OCR exceluje</a:t>
                      </a:r>
                      <a:r>
                        <a:rPr lang="cs-CZ" sz="1200" baseline="0" smtClean="0"/>
                        <a:t> v převodu dokumentů (scany, pdf, obrázky) na strukturovaný text – dostupné pouze přes API. 10000 stran pdf/měsíc je zdarma!</a:t>
                      </a:r>
                      <a:endParaRPr lang="en-GB" sz="1200"/>
                    </a:p>
                  </a:txBody>
                  <a:tcPr anchor="ctr"/>
                </a:tc>
                <a:extLst>
                  <a:ext uri="{0D108BD9-81ED-4DB2-BD59-A6C34878D82A}">
                    <a16:rowId xmlns:a16="http://schemas.microsoft.com/office/drawing/2014/main" val="1138723667"/>
                  </a:ext>
                </a:extLst>
              </a:tr>
              <a:tr h="738636">
                <a:tc>
                  <a:txBody>
                    <a:bodyPr/>
                    <a:lstStyle/>
                    <a:p>
                      <a:pPr algn="just"/>
                      <a:r>
                        <a:rPr lang="en-GB" sz="1200" smtClean="0">
                          <a:hlinkClick r:id="rId9"/>
                        </a:rPr>
                        <a:t>Granite</a:t>
                      </a:r>
                      <a:endParaRPr lang="en-GB" sz="1200"/>
                    </a:p>
                  </a:txBody>
                  <a:tcPr/>
                </a:tc>
                <a:tc>
                  <a:txBody>
                    <a:bodyPr/>
                    <a:lstStyle/>
                    <a:p>
                      <a:pPr algn="l"/>
                      <a:r>
                        <a:rPr lang="cs-CZ" sz="1200" smtClean="0"/>
                        <a:t>IBM (USA)</a:t>
                      </a:r>
                      <a:endParaRPr lang="en-GB" sz="1200"/>
                    </a:p>
                  </a:txBody>
                  <a:tcPr/>
                </a:tc>
                <a:tc>
                  <a:txBody>
                    <a:bodyPr/>
                    <a:lstStyle/>
                    <a:p>
                      <a:pPr algn="just"/>
                      <a:r>
                        <a:rPr lang="en-GB" sz="1200" smtClean="0"/>
                        <a:t>Sada základních LLM modelů</a:t>
                      </a:r>
                      <a:r>
                        <a:rPr lang="cs-CZ" sz="1200" smtClean="0"/>
                        <a:t>.</a:t>
                      </a:r>
                      <a:r>
                        <a:rPr lang="cs-CZ" sz="1200" baseline="0" smtClean="0"/>
                        <a:t> </a:t>
                      </a:r>
                      <a:r>
                        <a:rPr lang="en-GB" sz="1200" smtClean="0"/>
                        <a:t>Důraz na důvěryhodnost výstupů a filtraci závadného obsahu v </a:t>
                      </a:r>
                      <a:r>
                        <a:rPr lang="cs-CZ" sz="1200" smtClean="0"/>
                        <a:t>podnikovém</a:t>
                      </a:r>
                      <a:r>
                        <a:rPr lang="en-GB" sz="1200" smtClean="0"/>
                        <a:t> prostředí.</a:t>
                      </a:r>
                      <a:endParaRPr lang="en-GB" sz="1200"/>
                    </a:p>
                  </a:txBody>
                  <a:tcPr>
                    <a:lnT w="12700" cmpd="sng">
                      <a:noFill/>
                    </a:lnT>
                  </a:tcPr>
                </a:tc>
                <a:tc>
                  <a:txBody>
                    <a:bodyPr/>
                    <a:lstStyle/>
                    <a:p>
                      <a:pPr algn="just"/>
                      <a:r>
                        <a:rPr lang="en-GB" sz="1200" smtClean="0"/>
                        <a:t>Část modelů open-source (Apache 2.0), jinak proprietární</a:t>
                      </a:r>
                      <a:endParaRPr lang="en-GB" sz="1200"/>
                    </a:p>
                  </a:txBody>
                  <a:tcPr/>
                </a:tc>
                <a:tc>
                  <a:txBody>
                    <a:bodyPr/>
                    <a:lstStyle/>
                    <a:p>
                      <a:pPr algn="just"/>
                      <a:r>
                        <a:rPr lang="cs-CZ" sz="1200" smtClean="0"/>
                        <a:t>Kompaktní modely, které lze provozovat lokálně. Existují nástroje pro dotrénování na vlastních datech – </a:t>
                      </a:r>
                      <a:r>
                        <a:rPr lang="cs-CZ" sz="1200" smtClean="0">
                          <a:hlinkClick r:id="rId10"/>
                        </a:rPr>
                        <a:t>instructlab</a:t>
                      </a:r>
                      <a:r>
                        <a:rPr lang="cs-CZ" sz="1200" smtClean="0"/>
                        <a:t>.</a:t>
                      </a:r>
                      <a:endParaRPr lang="en-GB" sz="1200"/>
                    </a:p>
                  </a:txBody>
                  <a:tcPr/>
                </a:tc>
                <a:extLst>
                  <a:ext uri="{0D108BD9-81ED-4DB2-BD59-A6C34878D82A}">
                    <a16:rowId xmlns:a16="http://schemas.microsoft.com/office/drawing/2014/main" val="1072124348"/>
                  </a:ext>
                </a:extLst>
              </a:tr>
              <a:tr h="738636">
                <a:tc>
                  <a:txBody>
                    <a:bodyPr/>
                    <a:lstStyle/>
                    <a:p>
                      <a:pPr algn="just"/>
                      <a:r>
                        <a:rPr lang="en-GB" sz="1200" smtClean="0">
                          <a:hlinkClick r:id="rId11"/>
                        </a:rPr>
                        <a:t>Grok</a:t>
                      </a:r>
                      <a:endParaRPr lang="en-GB" sz="1200"/>
                    </a:p>
                  </a:txBody>
                  <a:tcPr/>
                </a:tc>
                <a:tc>
                  <a:txBody>
                    <a:bodyPr/>
                    <a:lstStyle/>
                    <a:p>
                      <a:pPr algn="l"/>
                      <a:r>
                        <a:rPr lang="en-GB" sz="1200" smtClean="0"/>
                        <a:t>xAI (USA)</a:t>
                      </a:r>
                      <a:endParaRPr lang="en-GB" sz="1200"/>
                    </a:p>
                  </a:txBody>
                  <a:tcPr/>
                </a:tc>
                <a:tc>
                  <a:txBody>
                    <a:bodyPr/>
                    <a:lstStyle/>
                    <a:p>
                      <a:pPr algn="just"/>
                      <a:r>
                        <a:rPr lang="en-GB" sz="1200" smtClean="0"/>
                        <a:t>Velký jazykový model (LLM) integrovaný do platformy X (dříve Twitter), určený pro konverzace, dotazy a shrnování aktuálního dění.</a:t>
                      </a:r>
                      <a:endParaRPr lang="en-GB" sz="1200"/>
                    </a:p>
                  </a:txBody>
                  <a:tcPr/>
                </a:tc>
                <a:tc>
                  <a:txBody>
                    <a:bodyPr/>
                    <a:lstStyle/>
                    <a:p>
                      <a:pPr algn="just"/>
                      <a:r>
                        <a:rPr lang="en-GB" sz="1200" smtClean="0"/>
                        <a:t>Proprietární (uzavřený)</a:t>
                      </a:r>
                      <a:endParaRPr lang="en-GB" sz="1200"/>
                    </a:p>
                  </a:txBody>
                  <a:tcPr/>
                </a:tc>
                <a:tc>
                  <a:txBody>
                    <a:bodyPr/>
                    <a:lstStyle/>
                    <a:p>
                      <a:pPr algn="just"/>
                      <a:r>
                        <a:rPr lang="en-GB" sz="1200" smtClean="0"/>
                        <a:t>API je veřejně dostupné prostřednictvím </a:t>
                      </a:r>
                      <a:r>
                        <a:rPr lang="en-GB" sz="1200" smtClean="0">
                          <a:hlinkClick r:id="rId12"/>
                        </a:rPr>
                        <a:t>x.ai/api</a:t>
                      </a:r>
                      <a:r>
                        <a:rPr lang="en-GB" sz="1200" smtClean="0"/>
                        <a:t>. Model Grok-3 nabízí funkce jako DeepSearch pro vyhledávání informací na internetu a podporuje multimodální vstupy.</a:t>
                      </a:r>
                      <a:endParaRPr lang="en-GB" sz="1200"/>
                    </a:p>
                  </a:txBody>
                  <a:tcPr/>
                </a:tc>
                <a:extLst>
                  <a:ext uri="{0D108BD9-81ED-4DB2-BD59-A6C34878D82A}">
                    <a16:rowId xmlns:a16="http://schemas.microsoft.com/office/drawing/2014/main" val="3601302162"/>
                  </a:ext>
                </a:extLst>
              </a:tr>
              <a:tr h="424151">
                <a:tc>
                  <a:txBody>
                    <a:bodyPr/>
                    <a:lstStyle/>
                    <a:p>
                      <a:pPr algn="just"/>
                      <a:r>
                        <a:rPr lang="en-GB" sz="1200" smtClean="0">
                          <a:hlinkClick r:id="rId13"/>
                        </a:rPr>
                        <a:t>DeepSeek</a:t>
                      </a:r>
                      <a:endParaRPr lang="en-GB" sz="1200"/>
                    </a:p>
                  </a:txBody>
                  <a:tcPr>
                    <a:solidFill>
                      <a:schemeClr val="accent2">
                        <a:lumMod val="60000"/>
                        <a:lumOff val="40000"/>
                      </a:schemeClr>
                    </a:solidFill>
                  </a:tcPr>
                </a:tc>
                <a:tc>
                  <a:txBody>
                    <a:bodyPr/>
                    <a:lstStyle/>
                    <a:p>
                      <a:pPr algn="l"/>
                      <a:r>
                        <a:rPr lang="cs-CZ" sz="1200" smtClean="0"/>
                        <a:t>DeepSeek</a:t>
                      </a:r>
                      <a:r>
                        <a:rPr lang="cs-CZ" sz="1200" baseline="0" smtClean="0"/>
                        <a:t> (Čína)</a:t>
                      </a:r>
                      <a:endParaRPr lang="en-GB" sz="1200"/>
                    </a:p>
                  </a:txBody>
                  <a:tcPr>
                    <a:solidFill>
                      <a:schemeClr val="accent2">
                        <a:lumMod val="60000"/>
                        <a:lumOff val="40000"/>
                      </a:schemeClr>
                    </a:solidFill>
                  </a:tcPr>
                </a:tc>
                <a:tc>
                  <a:txBody>
                    <a:bodyPr/>
                    <a:lstStyle/>
                    <a:p>
                      <a:pPr algn="just"/>
                      <a:r>
                        <a:rPr lang="en-GB" sz="1200" smtClean="0"/>
                        <a:t>Obecný LLM nejvyšší třídy</a:t>
                      </a:r>
                      <a:r>
                        <a:rPr lang="cs-CZ" sz="1200" smtClean="0"/>
                        <a:t>.</a:t>
                      </a:r>
                      <a:r>
                        <a:rPr lang="cs-CZ" sz="1200" baseline="0" smtClean="0"/>
                        <a:t> Trénovaný pro logické usuzování, matematické uvažování a řešení problémů v reálném čase.</a:t>
                      </a:r>
                      <a:endParaRPr lang="en-GB" sz="1200"/>
                    </a:p>
                  </a:txBody>
                  <a:tcPr>
                    <a:solidFill>
                      <a:schemeClr val="accent2">
                        <a:lumMod val="60000"/>
                        <a:lumOff val="40000"/>
                      </a:schemeClr>
                    </a:solidFill>
                  </a:tcPr>
                </a:tc>
                <a:tc>
                  <a:txBody>
                    <a:bodyPr/>
                    <a:lstStyle/>
                    <a:p>
                      <a:pPr algn="just"/>
                      <a:r>
                        <a:rPr lang="cs-CZ" sz="1200" smtClean="0"/>
                        <a:t>MIT licence, opensource</a:t>
                      </a:r>
                      <a:endParaRPr lang="en-GB" sz="1200"/>
                    </a:p>
                  </a:txBody>
                  <a:tcPr>
                    <a:solidFill>
                      <a:schemeClr val="accent2">
                        <a:lumMod val="60000"/>
                        <a:lumOff val="40000"/>
                      </a:schemeClr>
                    </a:solidFill>
                  </a:tcPr>
                </a:tc>
                <a:tc>
                  <a:txBody>
                    <a:bodyPr/>
                    <a:lstStyle/>
                    <a:p>
                      <a:pPr algn="just"/>
                      <a:r>
                        <a:rPr lang="cs-CZ" sz="1200" smtClean="0"/>
                        <a:t>Kompaktní verze modelu lze provozovat lokálně.</a:t>
                      </a:r>
                      <a:endParaRPr lang="en-GB" sz="1200"/>
                    </a:p>
                  </a:txBody>
                  <a:tcPr>
                    <a:solidFill>
                      <a:schemeClr val="accent2">
                        <a:lumMod val="60000"/>
                        <a:lumOff val="40000"/>
                      </a:schemeClr>
                    </a:solidFill>
                  </a:tcPr>
                </a:tc>
                <a:extLst>
                  <a:ext uri="{0D108BD9-81ED-4DB2-BD59-A6C34878D82A}">
                    <a16:rowId xmlns:a16="http://schemas.microsoft.com/office/drawing/2014/main" val="1197888125"/>
                  </a:ext>
                </a:extLst>
              </a:tr>
              <a:tr h="738636">
                <a:tc>
                  <a:txBody>
                    <a:bodyPr/>
                    <a:lstStyle/>
                    <a:p>
                      <a:pPr algn="just"/>
                      <a:r>
                        <a:rPr lang="en-GB" sz="1200" smtClean="0">
                          <a:hlinkClick r:id="rId14"/>
                        </a:rPr>
                        <a:t>Qwen</a:t>
                      </a:r>
                      <a:endParaRPr lang="en-GB" sz="1200"/>
                    </a:p>
                  </a:txBody>
                  <a:tcPr>
                    <a:solidFill>
                      <a:schemeClr val="accent2">
                        <a:lumMod val="60000"/>
                        <a:lumOff val="40000"/>
                      </a:schemeClr>
                    </a:solidFill>
                  </a:tcPr>
                </a:tc>
                <a:tc>
                  <a:txBody>
                    <a:bodyPr/>
                    <a:lstStyle/>
                    <a:p>
                      <a:pPr algn="l"/>
                      <a:r>
                        <a:rPr lang="en-GB" sz="1200" smtClean="0"/>
                        <a:t>Alibaba</a:t>
                      </a:r>
                      <a:r>
                        <a:rPr lang="cs-CZ" sz="1200" smtClean="0"/>
                        <a:t> (Čína)</a:t>
                      </a:r>
                      <a:endParaRPr lang="en-GB" sz="1200"/>
                    </a:p>
                  </a:txBody>
                  <a:tcPr>
                    <a:solidFill>
                      <a:schemeClr val="accent2">
                        <a:lumMod val="60000"/>
                        <a:lumOff val="40000"/>
                      </a:schemeClr>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GB" sz="1200" smtClean="0"/>
                        <a:t>Obecný LLM nejvyšší třídy</a:t>
                      </a:r>
                      <a:r>
                        <a:rPr lang="cs-CZ" sz="1200" smtClean="0"/>
                        <a:t>.</a:t>
                      </a:r>
                      <a:r>
                        <a:rPr lang="cs-CZ" sz="1200" baseline="0" smtClean="0"/>
                        <a:t> Trénovaný pro logické usuzování, matematické uvažování a řešení problémů v reálném čase – rodina více než 100 modelů.</a:t>
                      </a:r>
                      <a:endParaRPr lang="en-GB" sz="1200" smtClean="0"/>
                    </a:p>
                    <a:p>
                      <a:pPr algn="just"/>
                      <a:endParaRPr lang="en-GB" sz="1200"/>
                    </a:p>
                  </a:txBody>
                  <a:tcPr>
                    <a:solidFill>
                      <a:schemeClr val="accent2">
                        <a:lumMod val="60000"/>
                        <a:lumOff val="40000"/>
                      </a:schemeClr>
                    </a:solidFill>
                  </a:tcPr>
                </a:tc>
                <a:tc>
                  <a:txBody>
                    <a:bodyPr/>
                    <a:lstStyle/>
                    <a:p>
                      <a:pPr algn="just"/>
                      <a:r>
                        <a:rPr lang="cs-CZ" sz="1200" smtClean="0"/>
                        <a:t>A</a:t>
                      </a:r>
                      <a:r>
                        <a:rPr lang="en-GB" sz="1200" smtClean="0"/>
                        <a:t>pache 2.0 license</a:t>
                      </a:r>
                      <a:r>
                        <a:rPr lang="cs-CZ" sz="1200" smtClean="0"/>
                        <a:t> (Opensource)</a:t>
                      </a:r>
                      <a:endParaRPr lang="en-GB" sz="1200"/>
                    </a:p>
                  </a:txBody>
                  <a:tcPr>
                    <a:solidFill>
                      <a:schemeClr val="accent2">
                        <a:lumMod val="60000"/>
                        <a:lumOff val="40000"/>
                      </a:schemeClr>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cs-CZ" sz="1200" smtClean="0"/>
                        <a:t>Kompaktní verze modelu lze provozovat lokálně.</a:t>
                      </a:r>
                      <a:endParaRPr lang="en-GB" sz="1200" smtClean="0"/>
                    </a:p>
                    <a:p>
                      <a:pPr algn="just"/>
                      <a:endParaRPr lang="en-GB" sz="1200"/>
                    </a:p>
                  </a:txBody>
                  <a:tcPr>
                    <a:solidFill>
                      <a:schemeClr val="accent2">
                        <a:lumMod val="60000"/>
                        <a:lumOff val="40000"/>
                      </a:schemeClr>
                    </a:solidFill>
                  </a:tcPr>
                </a:tc>
                <a:extLst>
                  <a:ext uri="{0D108BD9-81ED-4DB2-BD59-A6C34878D82A}">
                    <a16:rowId xmlns:a16="http://schemas.microsoft.com/office/drawing/2014/main" val="2585470436"/>
                  </a:ext>
                </a:extLst>
              </a:tr>
            </a:tbl>
          </a:graphicData>
        </a:graphic>
      </p:graphicFrame>
    </p:spTree>
    <p:extLst>
      <p:ext uri="{BB962C8B-B14F-4D97-AF65-F5344CB8AC3E}">
        <p14:creationId xmlns:p14="http://schemas.microsoft.com/office/powerpoint/2010/main" val="33106897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ovéPole 6"/>
          <p:cNvSpPr txBox="1"/>
          <p:nvPr/>
        </p:nvSpPr>
        <p:spPr>
          <a:xfrm>
            <a:off x="571499" y="1827891"/>
            <a:ext cx="6182077" cy="923330"/>
          </a:xfrm>
          <a:prstGeom prst="rect">
            <a:avLst/>
          </a:prstGeom>
          <a:noFill/>
        </p:spPr>
        <p:txBody>
          <a:bodyPr wrap="none" rtlCol="0">
            <a:spAutoFit/>
          </a:bodyPr>
          <a:lstStyle/>
          <a:p>
            <a:pPr lvl="0" eaLnBrk="0" fontAlgn="base" hangingPunct="0">
              <a:spcBef>
                <a:spcPct val="0"/>
              </a:spcBef>
              <a:spcAft>
                <a:spcPct val="0"/>
              </a:spcAft>
            </a:pPr>
            <a:r>
              <a:rPr lang="en-US" altLang="en-US" b="1">
                <a:latin typeface="Garamond" panose="02020404030301010803" pitchFamily="18" charset="0"/>
              </a:rPr>
              <a:t>HuggingFace = GitHub pro LLM</a:t>
            </a:r>
          </a:p>
          <a:p>
            <a:pPr marL="285750" lvl="0" indent="-285750" eaLnBrk="0" fontAlgn="base" hangingPunct="0">
              <a:spcBef>
                <a:spcPct val="0"/>
              </a:spcBef>
              <a:spcAft>
                <a:spcPct val="0"/>
              </a:spcAft>
              <a:buFont typeface="Arial" panose="020B0604020202020204" pitchFamily="34" charset="0"/>
              <a:buChar char="•"/>
            </a:pPr>
            <a:r>
              <a:rPr lang="en-US" altLang="en-US">
                <a:latin typeface="Garamond" panose="02020404030301010803" pitchFamily="18" charset="0"/>
              </a:rPr>
              <a:t>Největší open-source platforma pro sdílení </a:t>
            </a:r>
            <a:r>
              <a:rPr lang="cs-CZ" altLang="en-US" smtClean="0">
                <a:latin typeface="Garamond" panose="02020404030301010803" pitchFamily="18" charset="0"/>
              </a:rPr>
              <a:t>opensource </a:t>
            </a:r>
            <a:r>
              <a:rPr lang="en-US" altLang="en-US" smtClean="0">
                <a:latin typeface="Garamond" panose="02020404030301010803" pitchFamily="18" charset="0"/>
              </a:rPr>
              <a:t>modelů</a:t>
            </a:r>
            <a:r>
              <a:rPr lang="cs-CZ" altLang="en-US" smtClean="0">
                <a:latin typeface="Garamond" panose="02020404030301010803" pitchFamily="18" charset="0"/>
              </a:rPr>
              <a:t>.</a:t>
            </a:r>
          </a:p>
          <a:p>
            <a:pPr marL="285750" indent="-285750" eaLnBrk="0" fontAlgn="base" hangingPunct="0">
              <a:spcBef>
                <a:spcPct val="0"/>
              </a:spcBef>
              <a:spcAft>
                <a:spcPct val="0"/>
              </a:spcAft>
              <a:buFont typeface="Arial" panose="020B0604020202020204" pitchFamily="34" charset="0"/>
              <a:buChar char="•"/>
            </a:pPr>
            <a:r>
              <a:rPr lang="en-GB">
                <a:latin typeface="Garamond" panose="02020404030301010803" pitchFamily="18" charset="0"/>
              </a:rPr>
              <a:t>API pro testování modelů bez </a:t>
            </a:r>
            <a:r>
              <a:rPr lang="en-GB" smtClean="0">
                <a:latin typeface="Garamond" panose="02020404030301010803" pitchFamily="18" charset="0"/>
              </a:rPr>
              <a:t>instalace</a:t>
            </a:r>
            <a:endParaRPr lang="en-GB">
              <a:latin typeface="Garamond" panose="02020404030301010803" pitchFamily="18" charset="0"/>
            </a:endParaRPr>
          </a:p>
        </p:txBody>
      </p:sp>
      <p:sp>
        <p:nvSpPr>
          <p:cNvPr id="9" name="Obdélník 8"/>
          <p:cNvSpPr/>
          <p:nvPr/>
        </p:nvSpPr>
        <p:spPr>
          <a:xfrm>
            <a:off x="571499" y="3082126"/>
            <a:ext cx="10410825" cy="1323439"/>
          </a:xfrm>
          <a:prstGeom prst="rect">
            <a:avLst/>
          </a:prstGeom>
        </p:spPr>
        <p:txBody>
          <a:bodyPr wrap="square">
            <a:spAutoFit/>
          </a:bodyPr>
          <a:lstStyle/>
          <a:p>
            <a:pPr>
              <a:defRPr sz="2000"/>
            </a:pPr>
            <a:r>
              <a:rPr lang="en-GB" b="1">
                <a:latin typeface="Garamond" panose="02020404030301010803" pitchFamily="18" charset="0"/>
              </a:rPr>
              <a:t>Jak </a:t>
            </a:r>
            <a:r>
              <a:rPr lang="en-GB" b="1" smtClean="0">
                <a:latin typeface="Garamond" panose="02020404030301010803" pitchFamily="18" charset="0"/>
              </a:rPr>
              <a:t>si</a:t>
            </a:r>
            <a:r>
              <a:rPr lang="cs-CZ" b="1" smtClean="0">
                <a:latin typeface="Garamond" panose="02020404030301010803" pitchFamily="18" charset="0"/>
              </a:rPr>
              <a:t> vedou jednotlivé</a:t>
            </a:r>
            <a:r>
              <a:rPr lang="en-GB" b="1" smtClean="0">
                <a:latin typeface="Garamond" panose="02020404030301010803" pitchFamily="18" charset="0"/>
              </a:rPr>
              <a:t> </a:t>
            </a:r>
            <a:r>
              <a:rPr lang="cs-CZ" b="1" smtClean="0">
                <a:latin typeface="Garamond" panose="02020404030301010803" pitchFamily="18" charset="0"/>
              </a:rPr>
              <a:t>modely</a:t>
            </a:r>
            <a:r>
              <a:rPr lang="en-GB" b="1" smtClean="0">
                <a:latin typeface="Garamond" panose="02020404030301010803" pitchFamily="18" charset="0"/>
              </a:rPr>
              <a:t>?</a:t>
            </a:r>
            <a:r>
              <a:rPr lang="cs-CZ" smtClean="0">
                <a:latin typeface="Garamond" panose="02020404030301010803" pitchFamily="18" charset="0"/>
              </a:rPr>
              <a:t/>
            </a:r>
            <a:br>
              <a:rPr lang="cs-CZ" smtClean="0">
                <a:latin typeface="Garamond" panose="02020404030301010803" pitchFamily="18" charset="0"/>
              </a:rPr>
            </a:br>
            <a:endParaRPr lang="en-GB">
              <a:latin typeface="Garamond" panose="02020404030301010803" pitchFamily="18" charset="0"/>
            </a:endParaRPr>
          </a:p>
          <a:p>
            <a:pPr>
              <a:defRPr sz="2000"/>
            </a:pPr>
            <a:r>
              <a:rPr lang="en-GB">
                <a:latin typeface="Garamond" panose="02020404030301010803" pitchFamily="18" charset="0"/>
              </a:rPr>
              <a:t>• Leaderboard (open-source modely</a:t>
            </a:r>
            <a:r>
              <a:rPr lang="en-GB" smtClean="0">
                <a:latin typeface="Garamond" panose="02020404030301010803" pitchFamily="18" charset="0"/>
              </a:rPr>
              <a:t>): </a:t>
            </a:r>
            <a:r>
              <a:rPr lang="en-GB" smtClean="0">
                <a:latin typeface="Garamond" panose="02020404030301010803" pitchFamily="18" charset="0"/>
                <a:hlinkClick r:id="rId2" action="ppaction://hlinkfile"/>
              </a:rPr>
              <a:t>huggingface.co/spaces/open-llm-leaderboard</a:t>
            </a:r>
            <a:endParaRPr lang="en-GB">
              <a:latin typeface="Garamond" panose="02020404030301010803" pitchFamily="18" charset="0"/>
            </a:endParaRPr>
          </a:p>
          <a:p>
            <a:pPr>
              <a:defRPr sz="2000"/>
            </a:pPr>
            <a:r>
              <a:rPr lang="en-GB">
                <a:latin typeface="Garamond" panose="02020404030301010803" pitchFamily="18" charset="0"/>
              </a:rPr>
              <a:t>• Souboj </a:t>
            </a:r>
            <a:r>
              <a:rPr lang="cs-CZ" smtClean="0">
                <a:latin typeface="Garamond" panose="02020404030301010803" pitchFamily="18" charset="0"/>
              </a:rPr>
              <a:t>všech </a:t>
            </a:r>
            <a:r>
              <a:rPr lang="en-GB" smtClean="0">
                <a:latin typeface="Garamond" panose="02020404030301010803" pitchFamily="18" charset="0"/>
              </a:rPr>
              <a:t>modelů </a:t>
            </a:r>
            <a:r>
              <a:rPr lang="en-GB">
                <a:latin typeface="Garamond" panose="02020404030301010803" pitchFamily="18" charset="0"/>
              </a:rPr>
              <a:t>(hlasování): </a:t>
            </a:r>
            <a:r>
              <a:rPr lang="en-GB">
                <a:latin typeface="Garamond" panose="02020404030301010803" pitchFamily="18" charset="0"/>
                <a:hlinkClick r:id="rId3" action="ppaction://hlinkfile"/>
              </a:rPr>
              <a:t>lm.arena.ai</a:t>
            </a:r>
            <a:endParaRPr lang="en-GB">
              <a:latin typeface="Garamond" panose="02020404030301010803" pitchFamily="18" charset="0"/>
            </a:endParaRPr>
          </a:p>
        </p:txBody>
      </p:sp>
      <p:sp>
        <p:nvSpPr>
          <p:cNvPr id="10" name="Obdélník 9"/>
          <p:cNvSpPr/>
          <p:nvPr/>
        </p:nvSpPr>
        <p:spPr>
          <a:xfrm>
            <a:off x="8883674" y="2105025"/>
            <a:ext cx="1696170" cy="369332"/>
          </a:xfrm>
          <a:prstGeom prst="rect">
            <a:avLst/>
          </a:prstGeom>
        </p:spPr>
        <p:txBody>
          <a:bodyPr wrap="none">
            <a:spAutoFit/>
          </a:bodyPr>
          <a:lstStyle/>
          <a:p>
            <a:r>
              <a:rPr lang="en-GB" b="1">
                <a:latin typeface="Garamond" panose="02020404030301010803" pitchFamily="18" charset="0"/>
                <a:hlinkClick r:id="rId4" action="ppaction://hlinkfile"/>
              </a:rPr>
              <a:t>huggingface.co</a:t>
            </a:r>
            <a:endParaRPr lang="en-GB" b="1"/>
          </a:p>
        </p:txBody>
      </p:sp>
      <p:sp>
        <p:nvSpPr>
          <p:cNvPr id="11" name="Obdélník 10"/>
          <p:cNvSpPr/>
          <p:nvPr/>
        </p:nvSpPr>
        <p:spPr>
          <a:xfrm>
            <a:off x="571499" y="4763674"/>
            <a:ext cx="11277249" cy="1200329"/>
          </a:xfrm>
          <a:prstGeom prst="rect">
            <a:avLst/>
          </a:prstGeom>
        </p:spPr>
        <p:txBody>
          <a:bodyPr wrap="square">
            <a:spAutoFit/>
          </a:bodyPr>
          <a:lstStyle/>
          <a:p>
            <a:pPr algn="just"/>
            <a:r>
              <a:rPr lang="en-GB" smtClean="0">
                <a:latin typeface="Garamond" panose="02020404030301010803" pitchFamily="18" charset="0"/>
              </a:rPr>
              <a:t>Benchmarky pro jazykové modely jsou způsob, jak otestovat, co vlastně umí. Třeba MMLU prověřuje znalosti z různých oborů, GSM8K zase ukazuje, jestli si model poradí s jednoduchou matematikou. HumanEval testuje, jestli zvládne napsat funkční kód, HellaSwag zjišťuje, jestli rozumí běžnému kontextu, a TruthfulQA ověřuje, jestli si nevymýšlí. Jsou to jen příklady z celé hromady testů, které se používají pro srovnání.</a:t>
            </a:r>
            <a:endParaRPr lang="en-GB">
              <a:latin typeface="Garamond" panose="02020404030301010803" pitchFamily="18" charset="0"/>
            </a:endParaRPr>
          </a:p>
        </p:txBody>
      </p:sp>
      <p:sp>
        <p:nvSpPr>
          <p:cNvPr id="12" name="TextovéPole 11"/>
          <p:cNvSpPr txBox="1"/>
          <p:nvPr/>
        </p:nvSpPr>
        <p:spPr>
          <a:xfrm>
            <a:off x="571499" y="342900"/>
            <a:ext cx="5684954" cy="584775"/>
          </a:xfrm>
          <a:prstGeom prst="rect">
            <a:avLst/>
          </a:prstGeom>
          <a:noFill/>
        </p:spPr>
        <p:txBody>
          <a:bodyPr wrap="none" rtlCol="0">
            <a:spAutoFit/>
          </a:bodyPr>
          <a:lstStyle/>
          <a:p>
            <a:r>
              <a:rPr lang="cs-CZ" sz="3200" b="1" smtClean="0">
                <a:latin typeface="Garamond" panose="02020404030301010803" pitchFamily="18" charset="0"/>
              </a:rPr>
              <a:t>Jaký model si mám tedy vybrat?</a:t>
            </a:r>
            <a:endParaRPr lang="en-GB" sz="3200" b="1">
              <a:latin typeface="Garamond" panose="02020404030301010803" pitchFamily="18" charset="0"/>
            </a:endParaRPr>
          </a:p>
        </p:txBody>
      </p:sp>
      <p:sp>
        <p:nvSpPr>
          <p:cNvPr id="13" name="TextovéPole 12"/>
          <p:cNvSpPr txBox="1"/>
          <p:nvPr/>
        </p:nvSpPr>
        <p:spPr>
          <a:xfrm>
            <a:off x="571499" y="1029756"/>
            <a:ext cx="1262140" cy="369332"/>
          </a:xfrm>
          <a:prstGeom prst="rect">
            <a:avLst/>
          </a:prstGeom>
          <a:noFill/>
        </p:spPr>
        <p:txBody>
          <a:bodyPr wrap="none" rtlCol="0">
            <a:spAutoFit/>
          </a:bodyPr>
          <a:lstStyle/>
          <a:p>
            <a:r>
              <a:rPr lang="cs-CZ" smtClean="0">
                <a:latin typeface="Garamond" panose="02020404030301010803" pitchFamily="18" charset="0"/>
              </a:rPr>
              <a:t>To záleží….</a:t>
            </a:r>
            <a:endParaRPr lang="en-GB">
              <a:latin typeface="Garamond" panose="02020404030301010803" pitchFamily="18" charset="0"/>
            </a:endParaRPr>
          </a:p>
        </p:txBody>
      </p:sp>
      <p:sp>
        <p:nvSpPr>
          <p:cNvPr id="14" name="Obdélník 13"/>
          <p:cNvSpPr/>
          <p:nvPr/>
        </p:nvSpPr>
        <p:spPr>
          <a:xfrm>
            <a:off x="4447823" y="6315744"/>
            <a:ext cx="7400925" cy="369332"/>
          </a:xfrm>
          <a:prstGeom prst="rect">
            <a:avLst/>
          </a:prstGeom>
          <a:solidFill>
            <a:schemeClr val="accent2"/>
          </a:solidFill>
        </p:spPr>
        <p:txBody>
          <a:bodyPr wrap="square">
            <a:spAutoFit/>
          </a:bodyPr>
          <a:lstStyle/>
          <a:p>
            <a:r>
              <a:rPr lang="en-GB">
                <a:latin typeface="Garamond" panose="02020404030301010803" pitchFamily="18" charset="0"/>
              </a:rPr>
              <a:t>Žádný benchmark neřekne všechno, ale dohromady dají </a:t>
            </a:r>
            <a:r>
              <a:rPr lang="cs-CZ" smtClean="0">
                <a:latin typeface="Garamond" panose="02020404030301010803" pitchFamily="18" charset="0"/>
              </a:rPr>
              <a:t>vypovídající</a:t>
            </a:r>
            <a:r>
              <a:rPr lang="en-GB" smtClean="0">
                <a:latin typeface="Garamond" panose="02020404030301010803" pitchFamily="18" charset="0"/>
              </a:rPr>
              <a:t> </a:t>
            </a:r>
            <a:r>
              <a:rPr lang="en-GB">
                <a:latin typeface="Garamond" panose="02020404030301010803" pitchFamily="18" charset="0"/>
              </a:rPr>
              <a:t>obrázek.</a:t>
            </a:r>
          </a:p>
        </p:txBody>
      </p:sp>
    </p:spTree>
    <p:extLst>
      <p:ext uri="{BB962C8B-B14F-4D97-AF65-F5344CB8AC3E}">
        <p14:creationId xmlns:p14="http://schemas.microsoft.com/office/powerpoint/2010/main" val="6797722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2"/>
          <p:cNvGraphicFramePr>
            <a:graphicFrameLocks noGrp="1"/>
          </p:cNvGraphicFramePr>
          <p:nvPr>
            <p:extLst>
              <p:ext uri="{D42A27DB-BD31-4B8C-83A1-F6EECF244321}">
                <p14:modId xmlns:p14="http://schemas.microsoft.com/office/powerpoint/2010/main" val="2834215188"/>
              </p:ext>
            </p:extLst>
          </p:nvPr>
        </p:nvGraphicFramePr>
        <p:xfrm>
          <a:off x="973455" y="1888955"/>
          <a:ext cx="10237470" cy="4084320"/>
        </p:xfrm>
        <a:graphic>
          <a:graphicData uri="http://schemas.openxmlformats.org/drawingml/2006/table">
            <a:tbl>
              <a:tblPr firstRow="1" bandRow="1">
                <a:tableStyleId>{21E4AEA4-8DFA-4A89-87EB-49C32662AFE0}</a:tableStyleId>
              </a:tblPr>
              <a:tblGrid>
                <a:gridCol w="1869760">
                  <a:extLst>
                    <a:ext uri="{9D8B030D-6E8A-4147-A177-3AD203B41FA5}">
                      <a16:colId xmlns:a16="http://schemas.microsoft.com/office/drawing/2014/main" val="20000"/>
                    </a:ext>
                  </a:extLst>
                </a:gridCol>
                <a:gridCol w="4955220">
                  <a:extLst>
                    <a:ext uri="{9D8B030D-6E8A-4147-A177-3AD203B41FA5}">
                      <a16:colId xmlns:a16="http://schemas.microsoft.com/office/drawing/2014/main" val="20001"/>
                    </a:ext>
                  </a:extLst>
                </a:gridCol>
                <a:gridCol w="3412490">
                  <a:extLst>
                    <a:ext uri="{9D8B030D-6E8A-4147-A177-3AD203B41FA5}">
                      <a16:colId xmlns:a16="http://schemas.microsoft.com/office/drawing/2014/main" val="20002"/>
                    </a:ext>
                  </a:extLst>
                </a:gridCol>
              </a:tblGrid>
              <a:tr h="0">
                <a:tc>
                  <a:txBody>
                    <a:bodyPr/>
                    <a:lstStyle/>
                    <a:p>
                      <a:pPr>
                        <a:defRPr sz="1100"/>
                      </a:pPr>
                      <a:r>
                        <a:rPr sz="1400">
                          <a:latin typeface="Garamond" panose="02020404030301010803" pitchFamily="18" charset="0"/>
                        </a:rPr>
                        <a:t>Nástroj</a:t>
                      </a:r>
                      <a:endParaRPr sz="1400" b="1">
                        <a:latin typeface="Garamond" panose="02020404030301010803" pitchFamily="18" charset="0"/>
                      </a:endParaRPr>
                    </a:p>
                  </a:txBody>
                  <a:tcPr/>
                </a:tc>
                <a:tc>
                  <a:txBody>
                    <a:bodyPr/>
                    <a:lstStyle/>
                    <a:p>
                      <a:pPr>
                        <a:defRPr sz="1100"/>
                      </a:pPr>
                      <a:r>
                        <a:rPr sz="1400">
                          <a:latin typeface="Garamond" panose="02020404030301010803" pitchFamily="18" charset="0"/>
                        </a:rPr>
                        <a:t>Popis</a:t>
                      </a:r>
                      <a:endParaRPr sz="1400" b="1">
                        <a:latin typeface="Garamond" panose="02020404030301010803" pitchFamily="18" charset="0"/>
                      </a:endParaRPr>
                    </a:p>
                  </a:txBody>
                  <a:tcPr/>
                </a:tc>
                <a:tc>
                  <a:txBody>
                    <a:bodyPr/>
                    <a:lstStyle/>
                    <a:p>
                      <a:pPr>
                        <a:defRPr sz="1100"/>
                      </a:pPr>
                      <a:r>
                        <a:rPr sz="1400">
                          <a:latin typeface="Garamond" panose="02020404030301010803" pitchFamily="18" charset="0"/>
                        </a:rPr>
                        <a:t>Tagy</a:t>
                      </a:r>
                      <a:endParaRPr sz="1400" b="1">
                        <a:latin typeface="Garamond" panose="02020404030301010803" pitchFamily="18" charset="0"/>
                      </a:endParaRPr>
                    </a:p>
                  </a:txBody>
                  <a:tcPr/>
                </a:tc>
                <a:extLst>
                  <a:ext uri="{0D108BD9-81ED-4DB2-BD59-A6C34878D82A}">
                    <a16:rowId xmlns:a16="http://schemas.microsoft.com/office/drawing/2014/main" val="10000"/>
                  </a:ext>
                </a:extLst>
              </a:tr>
              <a:tr h="0">
                <a:tc>
                  <a:txBody>
                    <a:bodyPr/>
                    <a:lstStyle/>
                    <a:p>
                      <a:r>
                        <a:rPr lang="cs-CZ" sz="1100" u="sng" smtClean="0">
                          <a:latin typeface="Garamond" panose="02020404030301010803" pitchFamily="18" charset="0"/>
                          <a:hlinkClick r:id="rId2"/>
                        </a:rPr>
                        <a:t>Google AI studio</a:t>
                      </a:r>
                      <a:endParaRPr sz="1100" u="sng">
                        <a:solidFill>
                          <a:srgbClr val="0000FF"/>
                        </a:solidFill>
                        <a:latin typeface="Garamond" panose="02020404030301010803" pitchFamily="18" charset="0"/>
                        <a:hlinkClick r:id="rId2"/>
                      </a:endParaRPr>
                    </a:p>
                  </a:txBody>
                  <a:tcPr/>
                </a:tc>
                <a:tc>
                  <a:txBody>
                    <a:bodyPr/>
                    <a:lstStyle/>
                    <a:p>
                      <a:pPr>
                        <a:defRPr sz="1000"/>
                      </a:pPr>
                      <a:r>
                        <a:rPr lang="en-GB" sz="1100" smtClean="0">
                          <a:latin typeface="Garamond" panose="02020404030301010803" pitchFamily="18" charset="0"/>
                        </a:rPr>
                        <a:t>Google AI Studio je vývojové prostředí pro práci s multimodálními modely Gemini, které umožňuje zpracovávat text, obrázky, audio a video</a:t>
                      </a:r>
                      <a:r>
                        <a:rPr lang="cs-CZ" sz="1100" smtClean="0">
                          <a:latin typeface="Garamond" panose="02020404030301010803" pitchFamily="18" charset="0"/>
                        </a:rPr>
                        <a:t> (např. link z youtube)</a:t>
                      </a:r>
                      <a:r>
                        <a:rPr lang="en-GB" sz="1100" smtClean="0">
                          <a:latin typeface="Garamond" panose="02020404030301010803" pitchFamily="18" charset="0"/>
                        </a:rPr>
                        <a:t>. </a:t>
                      </a:r>
                      <a:r>
                        <a:rPr lang="cs-CZ" sz="1100" smtClean="0">
                          <a:latin typeface="Garamond" panose="02020404030301010803" pitchFamily="18" charset="0"/>
                        </a:rPr>
                        <a:t>L</a:t>
                      </a:r>
                      <a:r>
                        <a:rPr lang="en-GB" sz="1100" smtClean="0">
                          <a:latin typeface="Garamond" panose="02020404030301010803" pitchFamily="18" charset="0"/>
                        </a:rPr>
                        <a:t>ze komunikovat s modelem v reálném čase prostřednictvím hlasu a videa</a:t>
                      </a:r>
                      <a:r>
                        <a:rPr lang="cs-CZ" sz="1100" smtClean="0">
                          <a:latin typeface="Garamond" panose="02020404030301010803" pitchFamily="18" charset="0"/>
                        </a:rPr>
                        <a:t>. Poskytuje široké nastavení kontextového okna, teploty,…</a:t>
                      </a:r>
                      <a:endParaRPr sz="1100">
                        <a:latin typeface="Garamond" panose="02020404030301010803" pitchFamily="18" charset="0"/>
                      </a:endParaRPr>
                    </a:p>
                  </a:txBody>
                  <a:tcPr/>
                </a:tc>
                <a:tc>
                  <a:txBody>
                    <a:bodyPr/>
                    <a:lstStyle/>
                    <a:p>
                      <a:pPr>
                        <a:defRPr sz="1000"/>
                      </a:pPr>
                      <a:r>
                        <a:rPr sz="1100">
                          <a:latin typeface="Garamond" panose="02020404030301010803" pitchFamily="18" charset="0"/>
                        </a:rPr>
                        <a:t>multimédia, překlad, </a:t>
                      </a:r>
                      <a:r>
                        <a:rPr sz="1100" smtClean="0">
                          <a:latin typeface="Garamond" panose="02020404030301010803" pitchFamily="18" charset="0"/>
                        </a:rPr>
                        <a:t>přepis</a:t>
                      </a:r>
                      <a:r>
                        <a:rPr lang="cs-CZ" sz="1100" smtClean="0">
                          <a:latin typeface="Garamond" panose="02020404030301010803" pitchFamily="18" charset="0"/>
                        </a:rPr>
                        <a:t>, programování</a:t>
                      </a:r>
                      <a:endParaRPr sz="1100">
                        <a:latin typeface="Garamond" panose="02020404030301010803" pitchFamily="18" charset="0"/>
                      </a:endParaRPr>
                    </a:p>
                  </a:txBody>
                  <a:tcPr/>
                </a:tc>
                <a:extLst>
                  <a:ext uri="{0D108BD9-81ED-4DB2-BD59-A6C34878D82A}">
                    <a16:rowId xmlns:a16="http://schemas.microsoft.com/office/drawing/2014/main" val="10001"/>
                  </a:ext>
                </a:extLst>
              </a:tr>
              <a:tr h="0">
                <a:tc>
                  <a:txBody>
                    <a:bodyPr/>
                    <a:lstStyle/>
                    <a:p>
                      <a:r>
                        <a:rPr sz="1100" u="sng">
                          <a:latin typeface="Garamond" panose="02020404030301010803" pitchFamily="18" charset="0"/>
                          <a:hlinkClick r:id="rId3"/>
                        </a:rPr>
                        <a:t>Cursor</a:t>
                      </a:r>
                      <a:endParaRPr sz="1100" u="sng">
                        <a:solidFill>
                          <a:srgbClr val="0000FF"/>
                        </a:solidFill>
                        <a:latin typeface="Garamond" panose="02020404030301010803" pitchFamily="18" charset="0"/>
                        <a:hlinkClick r:id="rId3"/>
                      </a:endParaRPr>
                    </a:p>
                  </a:txBody>
                  <a:tcPr/>
                </a:tc>
                <a:tc>
                  <a:txBody>
                    <a:bodyPr/>
                    <a:lstStyle/>
                    <a:p>
                      <a:pPr>
                        <a:defRPr sz="1000"/>
                      </a:pPr>
                      <a:r>
                        <a:rPr sz="1100">
                          <a:latin typeface="Garamond" panose="02020404030301010803" pitchFamily="18" charset="0"/>
                        </a:rPr>
                        <a:t>Editor kódu s AI asistencí.</a:t>
                      </a:r>
                    </a:p>
                  </a:txBody>
                  <a:tcPr/>
                </a:tc>
                <a:tc>
                  <a:txBody>
                    <a:bodyPr/>
                    <a:lstStyle/>
                    <a:p>
                      <a:pPr>
                        <a:defRPr sz="1000"/>
                      </a:pPr>
                      <a:r>
                        <a:rPr sz="1100">
                          <a:latin typeface="Garamond" panose="02020404030301010803" pitchFamily="18" charset="0"/>
                        </a:rPr>
                        <a:t>IDE, kód</a:t>
                      </a:r>
                    </a:p>
                  </a:txBody>
                  <a:tcPr/>
                </a:tc>
                <a:extLst>
                  <a:ext uri="{0D108BD9-81ED-4DB2-BD59-A6C34878D82A}">
                    <a16:rowId xmlns:a16="http://schemas.microsoft.com/office/drawing/2014/main" val="10002"/>
                  </a:ext>
                </a:extLst>
              </a:tr>
              <a:tr h="0">
                <a:tc>
                  <a:txBody>
                    <a:bodyPr/>
                    <a:lstStyle/>
                    <a:p>
                      <a:r>
                        <a:rPr sz="1100" u="sng">
                          <a:latin typeface="Garamond" panose="02020404030301010803" pitchFamily="18" charset="0"/>
                          <a:hlinkClick r:id="rId4"/>
                        </a:rPr>
                        <a:t>Firebase Code Assist</a:t>
                      </a:r>
                      <a:endParaRPr sz="1100" u="sng">
                        <a:solidFill>
                          <a:srgbClr val="0000FF"/>
                        </a:solidFill>
                        <a:latin typeface="Garamond" panose="02020404030301010803" pitchFamily="18" charset="0"/>
                        <a:hlinkClick r:id="rId4"/>
                      </a:endParaRPr>
                    </a:p>
                  </a:txBody>
                  <a:tcPr/>
                </a:tc>
                <a:tc>
                  <a:txBody>
                    <a:bodyPr/>
                    <a:lstStyle/>
                    <a:p>
                      <a:pPr>
                        <a:defRPr sz="1000"/>
                      </a:pPr>
                      <a:r>
                        <a:rPr lang="pt-BR" sz="1100" smtClean="0">
                          <a:latin typeface="Garamond" panose="02020404030301010803" pitchFamily="18" charset="0"/>
                        </a:rPr>
                        <a:t>Editor kódu s AI asistencí</a:t>
                      </a:r>
                      <a:r>
                        <a:rPr lang="cs-CZ" sz="1100" baseline="0" smtClean="0">
                          <a:latin typeface="Garamond" panose="02020404030301010803" pitchFamily="18" charset="0"/>
                        </a:rPr>
                        <a:t> od googlu.</a:t>
                      </a:r>
                      <a:endParaRPr lang="pt-BR" sz="1100">
                        <a:latin typeface="Garamond" panose="02020404030301010803" pitchFamily="18" charset="0"/>
                      </a:endParaRPr>
                    </a:p>
                  </a:txBody>
                  <a:tcPr/>
                </a:tc>
                <a:tc>
                  <a:txBody>
                    <a:bodyPr/>
                    <a:lstStyle/>
                    <a:p>
                      <a:pPr>
                        <a:defRPr sz="1000"/>
                      </a:pPr>
                      <a:r>
                        <a:rPr sz="1100">
                          <a:latin typeface="Garamond" panose="02020404030301010803" pitchFamily="18" charset="0"/>
                        </a:rPr>
                        <a:t>kód, pomocník</a:t>
                      </a:r>
                    </a:p>
                  </a:txBody>
                  <a:tcPr/>
                </a:tc>
                <a:extLst>
                  <a:ext uri="{0D108BD9-81ED-4DB2-BD59-A6C34878D82A}">
                    <a16:rowId xmlns:a16="http://schemas.microsoft.com/office/drawing/2014/main" val="10003"/>
                  </a:ext>
                </a:extLst>
              </a:tr>
              <a:tr h="0">
                <a:tc>
                  <a:txBody>
                    <a:bodyPr/>
                    <a:lstStyle/>
                    <a:p>
                      <a:r>
                        <a:rPr sz="1100" u="sng">
                          <a:latin typeface="Garamond" panose="02020404030301010803" pitchFamily="18" charset="0"/>
                          <a:hlinkClick r:id="rId5"/>
                        </a:rPr>
                        <a:t>Aider</a:t>
                      </a:r>
                      <a:endParaRPr sz="1100" u="sng">
                        <a:solidFill>
                          <a:srgbClr val="0000FF"/>
                        </a:solidFill>
                        <a:latin typeface="Garamond" panose="02020404030301010803" pitchFamily="18" charset="0"/>
                        <a:hlinkClick r:id="rId5"/>
                      </a:endParaRPr>
                    </a:p>
                  </a:txBody>
                  <a:tcPr/>
                </a:tc>
                <a:tc>
                  <a:txBody>
                    <a:bodyPr/>
                    <a:lstStyle/>
                    <a:p>
                      <a:pPr>
                        <a:defRPr sz="1000"/>
                      </a:pPr>
                      <a:r>
                        <a:rPr sz="1100">
                          <a:latin typeface="Garamond" panose="02020404030301010803" pitchFamily="18" charset="0"/>
                        </a:rPr>
                        <a:t>Upravuje kód automaticky na základě instrukcí, verzuje změny přes </a:t>
                      </a:r>
                      <a:r>
                        <a:rPr sz="1100" smtClean="0">
                          <a:latin typeface="Garamond" panose="02020404030301010803" pitchFamily="18" charset="0"/>
                        </a:rPr>
                        <a:t>git</a:t>
                      </a:r>
                      <a:r>
                        <a:rPr lang="cs-CZ" sz="1100" baseline="0" smtClean="0">
                          <a:latin typeface="Garamond" panose="02020404030301010803" pitchFamily="18" charset="0"/>
                        </a:rPr>
                        <a:t> – zdarma!</a:t>
                      </a:r>
                      <a:endParaRPr sz="1100">
                        <a:latin typeface="Garamond" panose="02020404030301010803" pitchFamily="18" charset="0"/>
                      </a:endParaRPr>
                    </a:p>
                  </a:txBody>
                  <a:tcPr/>
                </a:tc>
                <a:tc>
                  <a:txBody>
                    <a:bodyPr/>
                    <a:lstStyle/>
                    <a:p>
                      <a:pPr>
                        <a:defRPr sz="1000"/>
                      </a:pPr>
                      <a:r>
                        <a:rPr sz="1100">
                          <a:latin typeface="Garamond" panose="02020404030301010803" pitchFamily="18" charset="0"/>
                        </a:rPr>
                        <a:t>kód, git, úpravy</a:t>
                      </a:r>
                    </a:p>
                  </a:txBody>
                  <a:tcPr/>
                </a:tc>
                <a:extLst>
                  <a:ext uri="{0D108BD9-81ED-4DB2-BD59-A6C34878D82A}">
                    <a16:rowId xmlns:a16="http://schemas.microsoft.com/office/drawing/2014/main" val="10004"/>
                  </a:ext>
                </a:extLst>
              </a:tr>
              <a:tr h="0">
                <a:tc>
                  <a:txBody>
                    <a:bodyPr/>
                    <a:lstStyle/>
                    <a:p>
                      <a:r>
                        <a:rPr sz="1100" u="sng">
                          <a:latin typeface="Garamond" panose="02020404030301010803" pitchFamily="18" charset="0"/>
                          <a:hlinkClick r:id="rId6"/>
                        </a:rPr>
                        <a:t>DeepL Translator</a:t>
                      </a:r>
                      <a:endParaRPr sz="1100" u="sng">
                        <a:solidFill>
                          <a:srgbClr val="0000FF"/>
                        </a:solidFill>
                        <a:latin typeface="Garamond" panose="02020404030301010803" pitchFamily="18" charset="0"/>
                        <a:hlinkClick r:id="rId6"/>
                      </a:endParaRPr>
                    </a:p>
                  </a:txBody>
                  <a:tcPr/>
                </a:tc>
                <a:tc>
                  <a:txBody>
                    <a:bodyPr/>
                    <a:lstStyle/>
                    <a:p>
                      <a:pPr>
                        <a:defRPr sz="1000"/>
                      </a:pPr>
                      <a:r>
                        <a:rPr sz="1100">
                          <a:latin typeface="Garamond" panose="02020404030301010803" pitchFamily="18" charset="0"/>
                        </a:rPr>
                        <a:t>Překlad textu a dokumentů s </a:t>
                      </a:r>
                      <a:r>
                        <a:rPr sz="1100" smtClean="0">
                          <a:latin typeface="Garamond" panose="02020404030301010803" pitchFamily="18" charset="0"/>
                        </a:rPr>
                        <a:t>češtinou</a:t>
                      </a:r>
                      <a:r>
                        <a:rPr sz="1100">
                          <a:latin typeface="Garamond" panose="02020404030301010803" pitchFamily="18" charset="0"/>
                        </a:rPr>
                        <a:t>.</a:t>
                      </a:r>
                    </a:p>
                  </a:txBody>
                  <a:tcPr/>
                </a:tc>
                <a:tc>
                  <a:txBody>
                    <a:bodyPr/>
                    <a:lstStyle/>
                    <a:p>
                      <a:pPr>
                        <a:defRPr sz="1000"/>
                      </a:pPr>
                      <a:r>
                        <a:rPr sz="1100">
                          <a:latin typeface="Garamond" panose="02020404030301010803" pitchFamily="18" charset="0"/>
                        </a:rPr>
                        <a:t>překlad</a:t>
                      </a:r>
                    </a:p>
                  </a:txBody>
                  <a:tcPr/>
                </a:tc>
                <a:extLst>
                  <a:ext uri="{0D108BD9-81ED-4DB2-BD59-A6C34878D82A}">
                    <a16:rowId xmlns:a16="http://schemas.microsoft.com/office/drawing/2014/main" val="10005"/>
                  </a:ext>
                </a:extLst>
              </a:tr>
              <a:tr h="0">
                <a:tc>
                  <a:txBody>
                    <a:bodyPr/>
                    <a:lstStyle/>
                    <a:p>
                      <a:r>
                        <a:rPr sz="1100" u="sng">
                          <a:latin typeface="Garamond" panose="02020404030301010803" pitchFamily="18" charset="0"/>
                          <a:hlinkClick r:id="rId7"/>
                        </a:rPr>
                        <a:t>Whisper</a:t>
                      </a:r>
                      <a:endParaRPr sz="1100" u="sng">
                        <a:solidFill>
                          <a:srgbClr val="0000FF"/>
                        </a:solidFill>
                        <a:latin typeface="Garamond" panose="02020404030301010803" pitchFamily="18" charset="0"/>
                        <a:hlinkClick r:id="rId7"/>
                      </a:endParaRPr>
                    </a:p>
                  </a:txBody>
                  <a:tcPr/>
                </a:tc>
                <a:tc>
                  <a:txBody>
                    <a:bodyPr/>
                    <a:lstStyle/>
                    <a:p>
                      <a:pPr>
                        <a:defRPr sz="1000"/>
                      </a:pPr>
                      <a:r>
                        <a:rPr sz="1100">
                          <a:latin typeface="Garamond" panose="02020404030301010803" pitchFamily="18" charset="0"/>
                        </a:rPr>
                        <a:t>Přepis audia do textu (řeč → text), podpora vícejazyčnosti.</a:t>
                      </a:r>
                    </a:p>
                  </a:txBody>
                  <a:tcPr/>
                </a:tc>
                <a:tc>
                  <a:txBody>
                    <a:bodyPr/>
                    <a:lstStyle/>
                    <a:p>
                      <a:pPr>
                        <a:defRPr sz="1000"/>
                      </a:pPr>
                      <a:r>
                        <a:rPr sz="1100">
                          <a:latin typeface="Garamond" panose="02020404030301010803" pitchFamily="18" charset="0"/>
                        </a:rPr>
                        <a:t>přepis, audio</a:t>
                      </a:r>
                    </a:p>
                  </a:txBody>
                  <a:tcPr/>
                </a:tc>
                <a:extLst>
                  <a:ext uri="{0D108BD9-81ED-4DB2-BD59-A6C34878D82A}">
                    <a16:rowId xmlns:a16="http://schemas.microsoft.com/office/drawing/2014/main" val="10006"/>
                  </a:ext>
                </a:extLst>
              </a:tr>
              <a:tr h="0">
                <a:tc>
                  <a:txBody>
                    <a:bodyPr/>
                    <a:lstStyle/>
                    <a:p>
                      <a:r>
                        <a:rPr sz="1100" u="sng">
                          <a:latin typeface="Garamond" panose="02020404030301010803" pitchFamily="18" charset="0"/>
                          <a:hlinkClick r:id="rId8"/>
                        </a:rPr>
                        <a:t>Perplexity AI</a:t>
                      </a:r>
                      <a:endParaRPr sz="1100" u="sng">
                        <a:solidFill>
                          <a:srgbClr val="0000FF"/>
                        </a:solidFill>
                        <a:latin typeface="Garamond" panose="02020404030301010803" pitchFamily="18" charset="0"/>
                        <a:hlinkClick r:id="rId8"/>
                      </a:endParaRPr>
                    </a:p>
                  </a:txBody>
                  <a:tcPr/>
                </a:tc>
                <a:tc>
                  <a:txBody>
                    <a:bodyPr/>
                    <a:lstStyle/>
                    <a:p>
                      <a:pPr>
                        <a:defRPr sz="1000"/>
                      </a:pPr>
                      <a:r>
                        <a:rPr sz="1100">
                          <a:latin typeface="Garamond" panose="02020404030301010803" pitchFamily="18" charset="0"/>
                        </a:rPr>
                        <a:t>Chatbot s odkazy na zdroje, vhodný pro rešerše a dotazy.</a:t>
                      </a:r>
                    </a:p>
                  </a:txBody>
                  <a:tcPr/>
                </a:tc>
                <a:tc>
                  <a:txBody>
                    <a:bodyPr/>
                    <a:lstStyle/>
                    <a:p>
                      <a:pPr>
                        <a:defRPr sz="1000"/>
                      </a:pPr>
                      <a:r>
                        <a:rPr sz="1100">
                          <a:latin typeface="Garamond" panose="02020404030301010803" pitchFamily="18" charset="0"/>
                        </a:rPr>
                        <a:t>rešerše, odkazy</a:t>
                      </a:r>
                    </a:p>
                  </a:txBody>
                  <a:tcPr/>
                </a:tc>
                <a:extLst>
                  <a:ext uri="{0D108BD9-81ED-4DB2-BD59-A6C34878D82A}">
                    <a16:rowId xmlns:a16="http://schemas.microsoft.com/office/drawing/2014/main" val="10007"/>
                  </a:ext>
                </a:extLst>
              </a:tr>
              <a:tr h="0">
                <a:tc>
                  <a:txBody>
                    <a:bodyPr/>
                    <a:lstStyle/>
                    <a:p>
                      <a:r>
                        <a:rPr sz="1100" u="sng">
                          <a:latin typeface="Garamond" panose="02020404030301010803" pitchFamily="18" charset="0"/>
                          <a:hlinkClick r:id="rId9"/>
                        </a:rPr>
                        <a:t>Elicit</a:t>
                      </a:r>
                      <a:endParaRPr sz="1100" u="sng">
                        <a:solidFill>
                          <a:srgbClr val="0000FF"/>
                        </a:solidFill>
                        <a:latin typeface="Garamond" panose="02020404030301010803" pitchFamily="18" charset="0"/>
                        <a:hlinkClick r:id="rId9"/>
                      </a:endParaRPr>
                    </a:p>
                  </a:txBody>
                  <a:tcPr/>
                </a:tc>
                <a:tc>
                  <a:txBody>
                    <a:bodyPr/>
                    <a:lstStyle/>
                    <a:p>
                      <a:pPr>
                        <a:defRPr sz="1000"/>
                      </a:pPr>
                      <a:r>
                        <a:rPr sz="1100">
                          <a:latin typeface="Garamond" panose="02020404030301010803" pitchFamily="18" charset="0"/>
                        </a:rPr>
                        <a:t>AI nástroj pro vědeckou rešerši, sumarizaci hypotéz a metodik článků.</a:t>
                      </a:r>
                    </a:p>
                  </a:txBody>
                  <a:tcPr/>
                </a:tc>
                <a:tc>
                  <a:txBody>
                    <a:bodyPr/>
                    <a:lstStyle/>
                    <a:p>
                      <a:pPr>
                        <a:defRPr sz="1000"/>
                      </a:pPr>
                      <a:r>
                        <a:rPr sz="1100">
                          <a:latin typeface="Garamond" panose="02020404030301010803" pitchFamily="18" charset="0"/>
                        </a:rPr>
                        <a:t>věda, rešerše</a:t>
                      </a:r>
                    </a:p>
                  </a:txBody>
                  <a:tcPr/>
                </a:tc>
                <a:extLst>
                  <a:ext uri="{0D108BD9-81ED-4DB2-BD59-A6C34878D82A}">
                    <a16:rowId xmlns:a16="http://schemas.microsoft.com/office/drawing/2014/main" val="10008"/>
                  </a:ext>
                </a:extLst>
              </a:tr>
              <a:tr h="0">
                <a:tc>
                  <a:txBody>
                    <a:bodyPr/>
                    <a:lstStyle/>
                    <a:p>
                      <a:r>
                        <a:rPr sz="1100" u="sng">
                          <a:latin typeface="Garamond" panose="02020404030301010803" pitchFamily="18" charset="0"/>
                          <a:hlinkClick r:id="rId10"/>
                        </a:rPr>
                        <a:t>tl;dv</a:t>
                      </a:r>
                      <a:endParaRPr sz="1100" u="sng">
                        <a:solidFill>
                          <a:srgbClr val="0000FF"/>
                        </a:solidFill>
                        <a:latin typeface="Garamond" panose="02020404030301010803" pitchFamily="18" charset="0"/>
                        <a:hlinkClick r:id="rId10"/>
                      </a:endParaRPr>
                    </a:p>
                  </a:txBody>
                  <a:tcPr/>
                </a:tc>
                <a:tc>
                  <a:txBody>
                    <a:bodyPr/>
                    <a:lstStyle/>
                    <a:p>
                      <a:pPr>
                        <a:defRPr sz="1000"/>
                      </a:pPr>
                      <a:r>
                        <a:rPr sz="1100">
                          <a:latin typeface="Garamond" panose="02020404030301010803" pitchFamily="18" charset="0"/>
                        </a:rPr>
                        <a:t>Záznam, přepis a shrnutí online schůzek (Zoom, Meet).</a:t>
                      </a:r>
                    </a:p>
                  </a:txBody>
                  <a:tcPr/>
                </a:tc>
                <a:tc>
                  <a:txBody>
                    <a:bodyPr/>
                    <a:lstStyle/>
                    <a:p>
                      <a:pPr>
                        <a:defRPr sz="1000"/>
                      </a:pPr>
                      <a:r>
                        <a:rPr sz="1100">
                          <a:latin typeface="Garamond" panose="02020404030301010803" pitchFamily="18" charset="0"/>
                        </a:rPr>
                        <a:t>schůzky, přepis</a:t>
                      </a:r>
                    </a:p>
                  </a:txBody>
                  <a:tcPr/>
                </a:tc>
                <a:extLst>
                  <a:ext uri="{0D108BD9-81ED-4DB2-BD59-A6C34878D82A}">
                    <a16:rowId xmlns:a16="http://schemas.microsoft.com/office/drawing/2014/main" val="10009"/>
                  </a:ext>
                </a:extLst>
              </a:tr>
              <a:tr h="0">
                <a:tc>
                  <a:txBody>
                    <a:bodyPr/>
                    <a:lstStyle/>
                    <a:p>
                      <a:r>
                        <a:rPr sz="1100" u="sng">
                          <a:latin typeface="Garamond" panose="02020404030301010803" pitchFamily="18" charset="0"/>
                          <a:hlinkClick r:id="rId11"/>
                        </a:rPr>
                        <a:t>NotebookLM</a:t>
                      </a:r>
                      <a:endParaRPr sz="1100" u="sng">
                        <a:solidFill>
                          <a:srgbClr val="0000FF"/>
                        </a:solidFill>
                        <a:latin typeface="Garamond" panose="02020404030301010803" pitchFamily="18" charset="0"/>
                        <a:hlinkClick r:id="rId11"/>
                      </a:endParaRPr>
                    </a:p>
                  </a:txBody>
                  <a:tcPr/>
                </a:tc>
                <a:tc>
                  <a:txBody>
                    <a:bodyPr/>
                    <a:lstStyle/>
                    <a:p>
                      <a:pPr>
                        <a:defRPr sz="1000"/>
                      </a:pPr>
                      <a:r>
                        <a:rPr sz="1100">
                          <a:latin typeface="Garamond" panose="02020404030301010803" pitchFamily="18" charset="0"/>
                        </a:rPr>
                        <a:t>AI poznámkový blok od Googlu, dotazování nad dokumenty.</a:t>
                      </a:r>
                    </a:p>
                  </a:txBody>
                  <a:tcPr/>
                </a:tc>
                <a:tc>
                  <a:txBody>
                    <a:bodyPr/>
                    <a:lstStyle/>
                    <a:p>
                      <a:pPr>
                        <a:defRPr sz="1000"/>
                      </a:pPr>
                      <a:r>
                        <a:rPr sz="1100">
                          <a:latin typeface="Garamond" panose="02020404030301010803" pitchFamily="18" charset="0"/>
                        </a:rPr>
                        <a:t>poznámky, shrnutí</a:t>
                      </a:r>
                    </a:p>
                  </a:txBody>
                  <a:tcPr/>
                </a:tc>
                <a:extLst>
                  <a:ext uri="{0D108BD9-81ED-4DB2-BD59-A6C34878D82A}">
                    <a16:rowId xmlns:a16="http://schemas.microsoft.com/office/drawing/2014/main" val="10010"/>
                  </a:ext>
                </a:extLst>
              </a:tr>
              <a:tr h="0">
                <a:tc>
                  <a:txBody>
                    <a:bodyPr/>
                    <a:lstStyle/>
                    <a:p>
                      <a:r>
                        <a:rPr lang="cs-CZ" sz="1100" u="sng" smtClean="0">
                          <a:latin typeface="Garamond" panose="02020404030301010803" pitchFamily="18" charset="0"/>
                          <a:hlinkClick r:id="rId12"/>
                        </a:rPr>
                        <a:t>c</a:t>
                      </a:r>
                      <a:r>
                        <a:rPr sz="1100" u="sng" smtClean="0">
                          <a:latin typeface="Garamond" panose="02020404030301010803" pitchFamily="18" charset="0"/>
                          <a:hlinkClick r:id="rId12"/>
                        </a:rPr>
                        <a:t>esky.</a:t>
                      </a:r>
                      <a:r>
                        <a:rPr lang="cs-CZ" sz="1100" u="sng" smtClean="0">
                          <a:latin typeface="Garamond" panose="02020404030301010803" pitchFamily="18" charset="0"/>
                          <a:hlinkClick r:id="rId12"/>
                        </a:rPr>
                        <a:t>ai</a:t>
                      </a:r>
                      <a:endParaRPr sz="1100" u="sng">
                        <a:solidFill>
                          <a:srgbClr val="0000FF"/>
                        </a:solidFill>
                        <a:latin typeface="Garamond" panose="02020404030301010803" pitchFamily="18" charset="0"/>
                        <a:hlinkClick r:id="rId12"/>
                      </a:endParaRPr>
                    </a:p>
                  </a:txBody>
                  <a:tcPr/>
                </a:tc>
                <a:tc>
                  <a:txBody>
                    <a:bodyPr/>
                    <a:lstStyle/>
                    <a:p>
                      <a:pPr>
                        <a:defRPr sz="1000"/>
                      </a:pPr>
                      <a:r>
                        <a:rPr lang="cs-CZ" sz="1100" smtClean="0">
                          <a:latin typeface="Garamond" panose="02020404030301010803" pitchFamily="18" charset="0"/>
                        </a:rPr>
                        <a:t>Přepis audio/video – funguje</a:t>
                      </a:r>
                      <a:r>
                        <a:rPr lang="cs-CZ" sz="1100" baseline="0" smtClean="0">
                          <a:latin typeface="Garamond" panose="02020404030301010803" pitchFamily="18" charset="0"/>
                        </a:rPr>
                        <a:t> s češtinou</a:t>
                      </a:r>
                      <a:endParaRPr sz="1100">
                        <a:latin typeface="Garamond" panose="02020404030301010803" pitchFamily="18" charset="0"/>
                      </a:endParaRPr>
                    </a:p>
                  </a:txBody>
                  <a:tcPr/>
                </a:tc>
                <a:tc>
                  <a:txBody>
                    <a:bodyPr/>
                    <a:lstStyle/>
                    <a:p>
                      <a:pPr>
                        <a:defRPr sz="1000"/>
                      </a:pPr>
                      <a:r>
                        <a:rPr lang="cs-CZ" sz="1100" smtClean="0">
                          <a:latin typeface="Garamond" panose="02020404030301010803" pitchFamily="18" charset="0"/>
                        </a:rPr>
                        <a:t>přepis</a:t>
                      </a:r>
                      <a:endParaRPr sz="1100">
                        <a:latin typeface="Garamond" panose="02020404030301010803" pitchFamily="18" charset="0"/>
                      </a:endParaRPr>
                    </a:p>
                  </a:txBody>
                  <a:tcPr/>
                </a:tc>
                <a:extLst>
                  <a:ext uri="{0D108BD9-81ED-4DB2-BD59-A6C34878D82A}">
                    <a16:rowId xmlns:a16="http://schemas.microsoft.com/office/drawing/2014/main" val="1001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1100" smtClean="0">
                          <a:latin typeface="Garamond" panose="02020404030301010803" pitchFamily="18" charset="0"/>
                          <a:hlinkClick r:id="rId13"/>
                        </a:rPr>
                        <a:t>Google colab</a:t>
                      </a:r>
                      <a:endParaRPr lang="cs-CZ" sz="1100" smtClean="0">
                        <a:latin typeface="Garamond" panose="02020404030301010803" pitchFamily="18" charset="0"/>
                      </a:endParaRPr>
                    </a:p>
                  </a:txBody>
                  <a:tcPr/>
                </a:tc>
                <a:tc>
                  <a:txBody>
                    <a:bodyPr/>
                    <a:lstStyle/>
                    <a:p>
                      <a:pPr>
                        <a:defRPr sz="1000"/>
                      </a:pPr>
                      <a:r>
                        <a:rPr lang="cs-CZ" sz="1100" smtClean="0">
                          <a:latin typeface="Garamond" panose="02020404030301010803" pitchFamily="18" charset="0"/>
                        </a:rPr>
                        <a:t>C</a:t>
                      </a:r>
                      <a:r>
                        <a:rPr lang="en-GB" sz="1100" smtClean="0">
                          <a:latin typeface="Garamond" panose="02020404030301010803" pitchFamily="18" charset="0"/>
                        </a:rPr>
                        <a:t>loudové prostředí pro spouštění Python kódu, vhodné pro strojové učení, datovou analýzu i sdílení interaktivních reportů s kolegy – bez nutnosti lokální instalace.</a:t>
                      </a:r>
                      <a:endParaRPr sz="1100">
                        <a:latin typeface="Garamond" panose="02020404030301010803" pitchFamily="18" charset="0"/>
                      </a:endParaRPr>
                    </a:p>
                  </a:txBody>
                  <a:tcPr/>
                </a:tc>
                <a:tc>
                  <a:txBody>
                    <a:bodyPr/>
                    <a:lstStyle/>
                    <a:p>
                      <a:pPr>
                        <a:defRPr sz="1000"/>
                      </a:pPr>
                      <a:r>
                        <a:rPr lang="cs-CZ" sz="1100" smtClean="0">
                          <a:latin typeface="Garamond" panose="02020404030301010803" pitchFamily="18" charset="0"/>
                        </a:rPr>
                        <a:t>programování</a:t>
                      </a:r>
                      <a:endParaRPr sz="1100">
                        <a:latin typeface="Garamond" panose="02020404030301010803" pitchFamily="18" charset="0"/>
                      </a:endParaRPr>
                    </a:p>
                  </a:txBody>
                  <a:tcPr/>
                </a:tc>
                <a:extLst>
                  <a:ext uri="{0D108BD9-81ED-4DB2-BD59-A6C34878D82A}">
                    <a16:rowId xmlns:a16="http://schemas.microsoft.com/office/drawing/2014/main" val="1319305401"/>
                  </a:ext>
                </a:extLst>
              </a:tr>
            </a:tbl>
          </a:graphicData>
        </a:graphic>
      </p:graphicFrame>
      <p:sp>
        <p:nvSpPr>
          <p:cNvPr id="14" name="TextovéPole 13"/>
          <p:cNvSpPr txBox="1"/>
          <p:nvPr/>
        </p:nvSpPr>
        <p:spPr>
          <a:xfrm>
            <a:off x="973455" y="733425"/>
            <a:ext cx="6052491" cy="584775"/>
          </a:xfrm>
          <a:prstGeom prst="rect">
            <a:avLst/>
          </a:prstGeom>
          <a:noFill/>
        </p:spPr>
        <p:txBody>
          <a:bodyPr wrap="none" rtlCol="0">
            <a:spAutoFit/>
          </a:bodyPr>
          <a:lstStyle/>
          <a:p>
            <a:r>
              <a:rPr lang="cs-CZ" sz="3200" b="1" smtClean="0">
                <a:latin typeface="Garamond" panose="02020404030301010803" pitchFamily="18" charset="0"/>
              </a:rPr>
              <a:t>Výběr dalších užitečných nástrojů</a:t>
            </a:r>
            <a:endParaRPr lang="en-GB" sz="3200" b="1">
              <a:latin typeface="Garamond" panose="02020404030301010803" pitchFamily="18" charset="0"/>
            </a:endParaRPr>
          </a:p>
        </p:txBody>
      </p:sp>
      <p:sp>
        <p:nvSpPr>
          <p:cNvPr id="15" name="TextovéPole 14"/>
          <p:cNvSpPr txBox="1"/>
          <p:nvPr/>
        </p:nvSpPr>
        <p:spPr>
          <a:xfrm>
            <a:off x="973455" y="1304180"/>
            <a:ext cx="6531083" cy="369332"/>
          </a:xfrm>
          <a:prstGeom prst="rect">
            <a:avLst/>
          </a:prstGeom>
          <a:noFill/>
        </p:spPr>
        <p:txBody>
          <a:bodyPr wrap="none" rtlCol="0">
            <a:spAutoFit/>
          </a:bodyPr>
          <a:lstStyle/>
          <a:p>
            <a:r>
              <a:rPr lang="cs-CZ" smtClean="0">
                <a:latin typeface="Garamond" panose="02020404030301010803" pitchFamily="18" charset="0"/>
              </a:rPr>
              <a:t>Spusta z toho je alespoň v základní verzi zdarma, nebo opensource…</a:t>
            </a:r>
            <a:endParaRPr lang="en-GB">
              <a:latin typeface="Garamond" panose="02020404030301010803" pitchFamily="18" charset="0"/>
            </a:endParaRPr>
          </a:p>
        </p:txBody>
      </p:sp>
    </p:spTree>
    <p:extLst>
      <p:ext uri="{BB962C8B-B14F-4D97-AF65-F5344CB8AC3E}">
        <p14:creationId xmlns:p14="http://schemas.microsoft.com/office/powerpoint/2010/main" val="32975822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838200" y="365125"/>
            <a:ext cx="8255924" cy="1325563"/>
          </a:xfrm>
        </p:spPr>
        <p:txBody>
          <a:bodyPr/>
          <a:lstStyle/>
          <a:p>
            <a:r>
              <a:rPr lang="cs-CZ" b="1" smtClean="0">
                <a:latin typeface="Garamond" panose="02020404030301010803" pitchFamily="18" charset="0"/>
              </a:rPr>
              <a:t>Skoro cokoliv lze i naprogramovat v Pythonu (zdarma)</a:t>
            </a:r>
            <a:endParaRPr lang="en-GB" b="1">
              <a:latin typeface="Garamond" panose="02020404030301010803" pitchFamily="18" charset="0"/>
            </a:endParaRPr>
          </a:p>
        </p:txBody>
      </p:sp>
      <p:sp>
        <p:nvSpPr>
          <p:cNvPr id="4" name="TextovéPole 3"/>
          <p:cNvSpPr txBox="1"/>
          <p:nvPr/>
        </p:nvSpPr>
        <p:spPr>
          <a:xfrm>
            <a:off x="838200" y="2485504"/>
            <a:ext cx="5874172" cy="369332"/>
          </a:xfrm>
          <a:prstGeom prst="rect">
            <a:avLst/>
          </a:prstGeom>
          <a:noFill/>
        </p:spPr>
        <p:txBody>
          <a:bodyPr wrap="none" rtlCol="0">
            <a:spAutoFit/>
          </a:bodyPr>
          <a:lstStyle/>
          <a:p>
            <a:r>
              <a:rPr lang="cs-CZ" smtClean="0">
                <a:latin typeface="Garamond" panose="02020404030301010803" pitchFamily="18" charset="0"/>
              </a:rPr>
              <a:t>Pokud máte API klíč k LLM, nebo provozujete lokální variantu</a:t>
            </a:r>
            <a:endParaRPr lang="en-GB">
              <a:latin typeface="Garamond" panose="02020404030301010803" pitchFamily="18" charset="0"/>
            </a:endParaRPr>
          </a:p>
        </p:txBody>
      </p:sp>
      <p:graphicFrame>
        <p:nvGraphicFramePr>
          <p:cNvPr id="5" name="Tabulka 4"/>
          <p:cNvGraphicFramePr>
            <a:graphicFrameLocks noGrp="1"/>
          </p:cNvGraphicFramePr>
          <p:nvPr>
            <p:extLst>
              <p:ext uri="{D42A27DB-BD31-4B8C-83A1-F6EECF244321}">
                <p14:modId xmlns:p14="http://schemas.microsoft.com/office/powerpoint/2010/main" val="2243241734"/>
              </p:ext>
            </p:extLst>
          </p:nvPr>
        </p:nvGraphicFramePr>
        <p:xfrm>
          <a:off x="821575" y="3737046"/>
          <a:ext cx="10532225" cy="2308067"/>
        </p:xfrm>
        <a:graphic>
          <a:graphicData uri="http://schemas.openxmlformats.org/drawingml/2006/table">
            <a:tbl>
              <a:tblPr>
                <a:tableStyleId>{284E427A-3D55-4303-BF80-6455036E1DE7}</a:tableStyleId>
              </a:tblPr>
              <a:tblGrid>
                <a:gridCol w="1745673">
                  <a:extLst>
                    <a:ext uri="{9D8B030D-6E8A-4147-A177-3AD203B41FA5}">
                      <a16:colId xmlns:a16="http://schemas.microsoft.com/office/drawing/2014/main" val="545583945"/>
                    </a:ext>
                  </a:extLst>
                </a:gridCol>
                <a:gridCol w="8786552">
                  <a:extLst>
                    <a:ext uri="{9D8B030D-6E8A-4147-A177-3AD203B41FA5}">
                      <a16:colId xmlns:a16="http://schemas.microsoft.com/office/drawing/2014/main" val="2004991354"/>
                    </a:ext>
                  </a:extLst>
                </a:gridCol>
              </a:tblGrid>
              <a:tr h="0">
                <a:tc>
                  <a:txBody>
                    <a:bodyPr/>
                    <a:lstStyle/>
                    <a:p>
                      <a:r>
                        <a:rPr lang="en-GB">
                          <a:hlinkClick r:id="rId2"/>
                        </a:rPr>
                        <a:t>LangChain</a:t>
                      </a:r>
                      <a:endParaRPr lang="en-GB"/>
                    </a:p>
                  </a:txBody>
                  <a:tcPr anchor="ctr"/>
                </a:tc>
                <a:tc>
                  <a:txBody>
                    <a:bodyPr/>
                    <a:lstStyle/>
                    <a:p>
                      <a:r>
                        <a:rPr lang="en-GB"/>
                        <a:t>Framework pro vývoj aplikací využívajících LLM, podporuje řetězení operací, práci s agenty a integraci s různými nástroji.</a:t>
                      </a:r>
                    </a:p>
                  </a:txBody>
                  <a:tcPr anchor="ctr"/>
                </a:tc>
                <a:extLst>
                  <a:ext uri="{0D108BD9-81ED-4DB2-BD59-A6C34878D82A}">
                    <a16:rowId xmlns:a16="http://schemas.microsoft.com/office/drawing/2014/main" val="1330340658"/>
                  </a:ext>
                </a:extLst>
              </a:tr>
              <a:tr h="0">
                <a:tc>
                  <a:txBody>
                    <a:bodyPr/>
                    <a:lstStyle/>
                    <a:p>
                      <a:r>
                        <a:rPr lang="en-GB">
                          <a:hlinkClick r:id="rId3"/>
                        </a:rPr>
                        <a:t>Pydantic</a:t>
                      </a:r>
                      <a:endParaRPr lang="en-GB"/>
                    </a:p>
                  </a:txBody>
                  <a:tcPr anchor="ctr"/>
                </a:tc>
                <a:tc>
                  <a:txBody>
                    <a:bodyPr/>
                    <a:lstStyle/>
                    <a:p>
                      <a:r>
                        <a:rPr lang="en-GB"/>
                        <a:t>Knihovna pro validaci dat a správu typů v Pythonu, často používaná pro strukturování vstupů a výstupů LLM.</a:t>
                      </a:r>
                    </a:p>
                  </a:txBody>
                  <a:tcPr anchor="ctr"/>
                </a:tc>
                <a:extLst>
                  <a:ext uri="{0D108BD9-81ED-4DB2-BD59-A6C34878D82A}">
                    <a16:rowId xmlns:a16="http://schemas.microsoft.com/office/drawing/2014/main" val="2226780586"/>
                  </a:ext>
                </a:extLst>
              </a:tr>
              <a:tr h="662147">
                <a:tc>
                  <a:txBody>
                    <a:bodyPr/>
                    <a:lstStyle/>
                    <a:p>
                      <a:r>
                        <a:rPr lang="en-GB">
                          <a:hlinkClick r:id="rId4"/>
                        </a:rPr>
                        <a:t>FAISS</a:t>
                      </a:r>
                      <a:endParaRPr lang="en-GB"/>
                    </a:p>
                  </a:txBody>
                  <a:tcPr anchor="ctr"/>
                </a:tc>
                <a:tc>
                  <a:txBody>
                    <a:bodyPr/>
                    <a:lstStyle/>
                    <a:p>
                      <a:r>
                        <a:rPr lang="en-GB"/>
                        <a:t>Knihovna pro efektivní vyhledávání podobností a shlukování hustých vektorů, vhodná pro RAG systémy.</a:t>
                      </a:r>
                    </a:p>
                  </a:txBody>
                  <a:tcPr anchor="ctr"/>
                </a:tc>
                <a:extLst>
                  <a:ext uri="{0D108BD9-81ED-4DB2-BD59-A6C34878D82A}">
                    <a16:rowId xmlns:a16="http://schemas.microsoft.com/office/drawing/2014/main" val="67401171"/>
                  </a:ext>
                </a:extLst>
              </a:tr>
              <a:tr h="0">
                <a:tc>
                  <a:txBody>
                    <a:bodyPr/>
                    <a:lstStyle/>
                    <a:p>
                      <a:r>
                        <a:rPr lang="en-GB">
                          <a:hlinkClick r:id="rId5"/>
                        </a:rPr>
                        <a:t>Transformers</a:t>
                      </a:r>
                      <a:endParaRPr lang="en-GB"/>
                    </a:p>
                  </a:txBody>
                  <a:tcPr anchor="ctr"/>
                </a:tc>
                <a:tc>
                  <a:txBody>
                    <a:bodyPr/>
                    <a:lstStyle/>
                    <a:p>
                      <a:r>
                        <a:rPr lang="en-GB"/>
                        <a:t>Knihovna od Hugging Face poskytující přístup k předtrénovaným modelům pro NLP úlohy.</a:t>
                      </a:r>
                    </a:p>
                  </a:txBody>
                  <a:tcPr anchor="ctr"/>
                </a:tc>
                <a:extLst>
                  <a:ext uri="{0D108BD9-81ED-4DB2-BD59-A6C34878D82A}">
                    <a16:rowId xmlns:a16="http://schemas.microsoft.com/office/drawing/2014/main" val="1956795551"/>
                  </a:ext>
                </a:extLst>
              </a:tr>
            </a:tbl>
          </a:graphicData>
        </a:graphic>
      </p:graphicFrame>
      <p:sp>
        <p:nvSpPr>
          <p:cNvPr id="6" name="TextovéPole 5"/>
          <p:cNvSpPr txBox="1"/>
          <p:nvPr/>
        </p:nvSpPr>
        <p:spPr>
          <a:xfrm>
            <a:off x="9336901" y="6276109"/>
            <a:ext cx="2016899" cy="369332"/>
          </a:xfrm>
          <a:prstGeom prst="rect">
            <a:avLst/>
          </a:prstGeom>
          <a:solidFill>
            <a:schemeClr val="accent2"/>
          </a:solidFill>
        </p:spPr>
        <p:txBody>
          <a:bodyPr wrap="none" rtlCol="0">
            <a:spAutoFit/>
          </a:bodyPr>
          <a:lstStyle/>
          <a:p>
            <a:r>
              <a:rPr lang="cs-CZ" smtClean="0"/>
              <a:t>A mnoho dalších…..</a:t>
            </a:r>
            <a:endParaRPr lang="en-GB"/>
          </a:p>
        </p:txBody>
      </p:sp>
      <p:pic>
        <p:nvPicPr>
          <p:cNvPr id="7" name="Obrázek 6"/>
          <p:cNvPicPr>
            <a:picLocks noChangeAspect="1"/>
          </p:cNvPicPr>
          <p:nvPr/>
        </p:nvPicPr>
        <p:blipFill>
          <a:blip r:embed="rId6"/>
          <a:stretch>
            <a:fillRect/>
          </a:stretch>
        </p:blipFill>
        <p:spPr>
          <a:xfrm>
            <a:off x="9356668" y="2151281"/>
            <a:ext cx="2057400" cy="657225"/>
          </a:xfrm>
          <a:prstGeom prst="rect">
            <a:avLst/>
          </a:prstGeom>
        </p:spPr>
      </p:pic>
      <p:sp>
        <p:nvSpPr>
          <p:cNvPr id="10" name="Obdélník 9"/>
          <p:cNvSpPr/>
          <p:nvPr/>
        </p:nvSpPr>
        <p:spPr>
          <a:xfrm>
            <a:off x="9465995" y="2670170"/>
            <a:ext cx="2038250" cy="369332"/>
          </a:xfrm>
          <a:prstGeom prst="rect">
            <a:avLst/>
          </a:prstGeom>
        </p:spPr>
        <p:txBody>
          <a:bodyPr wrap="none">
            <a:spAutoFit/>
          </a:bodyPr>
          <a:lstStyle/>
          <a:p>
            <a:r>
              <a:rPr lang="en-GB">
                <a:hlinkClick r:id="rId7"/>
              </a:rPr>
              <a:t>https://lmstudio.ai/</a:t>
            </a:r>
            <a:endParaRPr lang="en-GB"/>
          </a:p>
        </p:txBody>
      </p:sp>
      <p:cxnSp>
        <p:nvCxnSpPr>
          <p:cNvPr id="12" name="Pravoúhlá spojnice 11"/>
          <p:cNvCxnSpPr>
            <a:endCxn id="10" idx="2"/>
          </p:cNvCxnSpPr>
          <p:nvPr/>
        </p:nvCxnSpPr>
        <p:spPr>
          <a:xfrm>
            <a:off x="5569527" y="2808506"/>
            <a:ext cx="4915593" cy="230996"/>
          </a:xfrm>
          <a:prstGeom prst="bentConnector4">
            <a:avLst>
              <a:gd name="adj1" fmla="val 62"/>
              <a:gd name="adj2" fmla="val 19896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53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2949574" y="290311"/>
            <a:ext cx="6460433" cy="1325563"/>
          </a:xfrm>
        </p:spPr>
        <p:txBody>
          <a:bodyPr/>
          <a:lstStyle/>
          <a:p>
            <a:r>
              <a:rPr lang="cs-CZ" b="1" smtClean="0">
                <a:latin typeface="Garamond" panose="02020404030301010803" pitchFamily="18" charset="0"/>
              </a:rPr>
              <a:t>Není překlad jako překlad</a:t>
            </a:r>
            <a:endParaRPr lang="en-GB" b="1">
              <a:latin typeface="Garamond" panose="02020404030301010803" pitchFamily="18" charset="0"/>
            </a:endParaRPr>
          </a:p>
        </p:txBody>
      </p:sp>
      <p:graphicFrame>
        <p:nvGraphicFramePr>
          <p:cNvPr id="5" name="Table 2"/>
          <p:cNvGraphicFramePr>
            <a:graphicFrameLocks noGrp="1"/>
          </p:cNvGraphicFramePr>
          <p:nvPr>
            <p:extLst>
              <p:ext uri="{D42A27DB-BD31-4B8C-83A1-F6EECF244321}">
                <p14:modId xmlns:p14="http://schemas.microsoft.com/office/powerpoint/2010/main" val="216039092"/>
              </p:ext>
            </p:extLst>
          </p:nvPr>
        </p:nvGraphicFramePr>
        <p:xfrm>
          <a:off x="573578" y="1533932"/>
          <a:ext cx="11288684" cy="3594328"/>
        </p:xfrm>
        <a:graphic>
          <a:graphicData uri="http://schemas.openxmlformats.org/drawingml/2006/table">
            <a:tbl>
              <a:tblPr firstRow="1" bandRow="1">
                <a:tableStyleId>{21E4AEA4-8DFA-4A89-87EB-49C32662AFE0}</a:tableStyleId>
              </a:tblPr>
              <a:tblGrid>
                <a:gridCol w="2598247">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4642312">
                  <a:extLst>
                    <a:ext uri="{9D8B030D-6E8A-4147-A177-3AD203B41FA5}">
                      <a16:colId xmlns:a16="http://schemas.microsoft.com/office/drawing/2014/main" val="20002"/>
                    </a:ext>
                  </a:extLst>
                </a:gridCol>
              </a:tblGrid>
              <a:tr h="753802">
                <a:tc>
                  <a:txBody>
                    <a:bodyPr/>
                    <a:lstStyle/>
                    <a:p>
                      <a:pPr algn="ctr">
                        <a:defRPr sz="1200" b="1">
                          <a:latin typeface="Calibri"/>
                        </a:defRPr>
                      </a:pPr>
                      <a:r>
                        <a:rPr sz="2000">
                          <a:latin typeface="Garamond" panose="02020404030301010803" pitchFamily="18" charset="0"/>
                        </a:rPr>
                        <a:t>Aspekt</a:t>
                      </a:r>
                    </a:p>
                  </a:txBody>
                  <a:tcPr anchor="ctr"/>
                </a:tc>
                <a:tc>
                  <a:txBody>
                    <a:bodyPr/>
                    <a:lstStyle/>
                    <a:p>
                      <a:pPr algn="ctr">
                        <a:defRPr sz="1200" b="1">
                          <a:latin typeface="Calibri"/>
                        </a:defRPr>
                      </a:pPr>
                      <a:r>
                        <a:rPr sz="2000" smtClean="0">
                          <a:latin typeface="Garamond" panose="02020404030301010803" pitchFamily="18" charset="0"/>
                        </a:rPr>
                        <a:t>DeepL</a:t>
                      </a:r>
                      <a:endParaRPr sz="2000">
                        <a:latin typeface="Garamond" panose="02020404030301010803" pitchFamily="18" charset="0"/>
                      </a:endParaRPr>
                    </a:p>
                  </a:txBody>
                  <a:tcPr anchor="ctr"/>
                </a:tc>
                <a:tc>
                  <a:txBody>
                    <a:bodyPr/>
                    <a:lstStyle/>
                    <a:p>
                      <a:pPr algn="ctr">
                        <a:defRPr sz="1200" b="1">
                          <a:latin typeface="Calibri"/>
                        </a:defRPr>
                      </a:pPr>
                      <a:r>
                        <a:rPr lang="cs-CZ" sz="2000" smtClean="0">
                          <a:latin typeface="Garamond" panose="02020404030301010803" pitchFamily="18" charset="0"/>
                        </a:rPr>
                        <a:t>chatGPT</a:t>
                      </a:r>
                      <a:endParaRPr sz="2000">
                        <a:latin typeface="Garamond" panose="02020404030301010803" pitchFamily="18" charset="0"/>
                      </a:endParaRPr>
                    </a:p>
                  </a:txBody>
                  <a:tcPr anchor="ctr"/>
                </a:tc>
                <a:extLst>
                  <a:ext uri="{0D108BD9-81ED-4DB2-BD59-A6C34878D82A}">
                    <a16:rowId xmlns:a16="http://schemas.microsoft.com/office/drawing/2014/main" val="10000"/>
                  </a:ext>
                </a:extLst>
              </a:tr>
              <a:tr h="753802">
                <a:tc>
                  <a:txBody>
                    <a:bodyPr/>
                    <a:lstStyle/>
                    <a:p>
                      <a:pPr algn="l">
                        <a:defRPr sz="1200">
                          <a:latin typeface="Calibri"/>
                        </a:defRPr>
                      </a:pPr>
                      <a:r>
                        <a:rPr sz="1600" b="1">
                          <a:latin typeface="Garamond" panose="02020404030301010803" pitchFamily="18" charset="0"/>
                        </a:rPr>
                        <a:t>Trénink a zaměření</a:t>
                      </a:r>
                    </a:p>
                  </a:txBody>
                  <a:tcPr/>
                </a:tc>
                <a:tc>
                  <a:txBody>
                    <a:bodyPr/>
                    <a:lstStyle/>
                    <a:p>
                      <a:pPr algn="l">
                        <a:defRPr sz="1200">
                          <a:latin typeface="Calibri"/>
                        </a:defRPr>
                      </a:pPr>
                      <a:r>
                        <a:rPr sz="1600">
                          <a:latin typeface="Garamond" panose="02020404030301010803" pitchFamily="18" charset="0"/>
                        </a:rPr>
                        <a:t>Trénován na paralelních větách mezi konkrétními jazyky. Optimalizován pro překlad.</a:t>
                      </a:r>
                    </a:p>
                  </a:txBody>
                  <a:tcPr/>
                </a:tc>
                <a:tc>
                  <a:txBody>
                    <a:bodyPr/>
                    <a:lstStyle/>
                    <a:p>
                      <a:pPr algn="l">
                        <a:defRPr sz="1200">
                          <a:latin typeface="Calibri"/>
                        </a:defRPr>
                      </a:pPr>
                      <a:r>
                        <a:rPr sz="1600">
                          <a:latin typeface="Garamond" panose="02020404030301010803" pitchFamily="18" charset="0"/>
                        </a:rPr>
                        <a:t>Trénován na obecném jazykovém korpusu, překlad je jednou z aplikací.</a:t>
                      </a:r>
                    </a:p>
                  </a:txBody>
                  <a:tcPr/>
                </a:tc>
                <a:extLst>
                  <a:ext uri="{0D108BD9-81ED-4DB2-BD59-A6C34878D82A}">
                    <a16:rowId xmlns:a16="http://schemas.microsoft.com/office/drawing/2014/main" val="10001"/>
                  </a:ext>
                </a:extLst>
              </a:tr>
              <a:tr h="753802">
                <a:tc>
                  <a:txBody>
                    <a:bodyPr/>
                    <a:lstStyle/>
                    <a:p>
                      <a:pPr algn="l">
                        <a:defRPr sz="1200">
                          <a:latin typeface="Calibri"/>
                        </a:defRPr>
                      </a:pPr>
                      <a:r>
                        <a:rPr sz="1600" b="1">
                          <a:latin typeface="Garamond" panose="02020404030301010803" pitchFamily="18" charset="0"/>
                        </a:rPr>
                        <a:t>Přesnost a konzistence</a:t>
                      </a:r>
                    </a:p>
                  </a:txBody>
                  <a:tcPr/>
                </a:tc>
                <a:tc>
                  <a:txBody>
                    <a:bodyPr/>
                    <a:lstStyle/>
                    <a:p>
                      <a:pPr algn="l">
                        <a:defRPr sz="1200">
                          <a:latin typeface="Calibri"/>
                        </a:defRPr>
                      </a:pPr>
                      <a:r>
                        <a:rPr sz="1600" b="1">
                          <a:solidFill>
                            <a:srgbClr val="C00000"/>
                          </a:solidFill>
                          <a:latin typeface="Garamond" panose="02020404030301010803" pitchFamily="18" charset="0"/>
                        </a:rPr>
                        <a:t>Stabilní a přesné </a:t>
                      </a:r>
                      <a:r>
                        <a:rPr sz="1600">
                          <a:latin typeface="Garamond" panose="02020404030301010803" pitchFamily="18" charset="0"/>
                        </a:rPr>
                        <a:t>překlady u běžných jazykových párů a standardních textů.</a:t>
                      </a:r>
                    </a:p>
                  </a:txBody>
                  <a:tcPr/>
                </a:tc>
                <a:tc>
                  <a:txBody>
                    <a:bodyPr/>
                    <a:lstStyle/>
                    <a:p>
                      <a:pPr algn="l">
                        <a:defRPr sz="1200">
                          <a:latin typeface="Calibri"/>
                        </a:defRPr>
                      </a:pPr>
                      <a:r>
                        <a:rPr sz="1600" b="1">
                          <a:solidFill>
                            <a:srgbClr val="C00000"/>
                          </a:solidFill>
                          <a:latin typeface="Garamond" panose="02020404030301010803" pitchFamily="18" charset="0"/>
                        </a:rPr>
                        <a:t>Méně předvídatelný </a:t>
                      </a:r>
                      <a:r>
                        <a:rPr sz="1600">
                          <a:latin typeface="Garamond" panose="02020404030301010803" pitchFamily="18" charset="0"/>
                        </a:rPr>
                        <a:t>výstup. Výsledek se může lišit při opakování, ale lépe pracuje s kontextem.</a:t>
                      </a:r>
                    </a:p>
                  </a:txBody>
                  <a:tcPr/>
                </a:tc>
                <a:extLst>
                  <a:ext uri="{0D108BD9-81ED-4DB2-BD59-A6C34878D82A}">
                    <a16:rowId xmlns:a16="http://schemas.microsoft.com/office/drawing/2014/main" val="10002"/>
                  </a:ext>
                </a:extLst>
              </a:tr>
              <a:tr h="753802">
                <a:tc>
                  <a:txBody>
                    <a:bodyPr/>
                    <a:lstStyle/>
                    <a:p>
                      <a:pPr algn="l">
                        <a:defRPr sz="1200">
                          <a:latin typeface="Calibri"/>
                        </a:defRPr>
                      </a:pPr>
                      <a:r>
                        <a:rPr sz="1600" b="1">
                          <a:latin typeface="Garamond" panose="02020404030301010803" pitchFamily="18" charset="0"/>
                        </a:rPr>
                        <a:t>Flexibilita a řízení výstupu</a:t>
                      </a:r>
                    </a:p>
                  </a:txBody>
                  <a:tcPr/>
                </a:tc>
                <a:tc>
                  <a:txBody>
                    <a:bodyPr/>
                    <a:lstStyle/>
                    <a:p>
                      <a:pPr algn="l">
                        <a:defRPr sz="1200">
                          <a:latin typeface="Calibri"/>
                        </a:defRPr>
                      </a:pPr>
                      <a:r>
                        <a:rPr sz="1600">
                          <a:latin typeface="Garamond" panose="02020404030301010803" pitchFamily="18" charset="0"/>
                        </a:rPr>
                        <a:t>Styl a rozsah výstupu jsou pevně dané, bez možnosti uživatelského ovlivnění.</a:t>
                      </a:r>
                    </a:p>
                  </a:txBody>
                  <a:tcPr/>
                </a:tc>
                <a:tc>
                  <a:txBody>
                    <a:bodyPr/>
                    <a:lstStyle/>
                    <a:p>
                      <a:pPr algn="l">
                        <a:defRPr sz="1200">
                          <a:latin typeface="Calibri"/>
                        </a:defRPr>
                      </a:pPr>
                      <a:r>
                        <a:rPr sz="1600">
                          <a:latin typeface="Garamond" panose="02020404030301010803" pitchFamily="18" charset="0"/>
                        </a:rPr>
                        <a:t>Styl, formát a tón lze ovlivnit promptem, možnost interaktivních úprav.</a:t>
                      </a:r>
                    </a:p>
                  </a:txBody>
                  <a:tcPr/>
                </a:tc>
                <a:extLst>
                  <a:ext uri="{0D108BD9-81ED-4DB2-BD59-A6C34878D82A}">
                    <a16:rowId xmlns:a16="http://schemas.microsoft.com/office/drawing/2014/main" val="10003"/>
                  </a:ext>
                </a:extLst>
              </a:tr>
              <a:tr h="528092">
                <a:tc>
                  <a:txBody>
                    <a:bodyPr/>
                    <a:lstStyle/>
                    <a:p>
                      <a:pPr algn="l">
                        <a:defRPr sz="1200">
                          <a:latin typeface="Calibri"/>
                        </a:defRPr>
                      </a:pPr>
                      <a:r>
                        <a:rPr sz="1600" b="1" smtClean="0">
                          <a:latin typeface="Garamond" panose="02020404030301010803" pitchFamily="18" charset="0"/>
                        </a:rPr>
                        <a:t>Použitelnost</a:t>
                      </a:r>
                      <a:endParaRPr sz="1600" b="1">
                        <a:latin typeface="Garamond" panose="02020404030301010803" pitchFamily="18" charset="0"/>
                      </a:endParaRPr>
                    </a:p>
                  </a:txBody>
                  <a:tcPr/>
                </a:tc>
                <a:tc>
                  <a:txBody>
                    <a:bodyPr/>
                    <a:lstStyle/>
                    <a:p>
                      <a:pPr algn="l">
                        <a:defRPr sz="1200">
                          <a:latin typeface="Calibri"/>
                        </a:defRPr>
                      </a:pPr>
                      <a:r>
                        <a:rPr sz="1600">
                          <a:latin typeface="Garamond" panose="02020404030301010803" pitchFamily="18" charset="0"/>
                        </a:rPr>
                        <a:t>Vhodný pro technické, formální nebo rutinní texty.</a:t>
                      </a:r>
                    </a:p>
                  </a:txBody>
                  <a:tcPr/>
                </a:tc>
                <a:tc>
                  <a:txBody>
                    <a:bodyPr/>
                    <a:lstStyle/>
                    <a:p>
                      <a:pPr algn="l">
                        <a:defRPr sz="1200">
                          <a:latin typeface="Calibri"/>
                        </a:defRPr>
                      </a:pPr>
                      <a:r>
                        <a:rPr sz="1600">
                          <a:latin typeface="Garamond" panose="02020404030301010803" pitchFamily="18" charset="0"/>
                        </a:rPr>
                        <a:t>Vhodný pro jazykově bohaté nebo kontextově náročné </a:t>
                      </a:r>
                      <a:r>
                        <a:rPr sz="1600" smtClean="0">
                          <a:latin typeface="Garamond" panose="02020404030301010803" pitchFamily="18" charset="0"/>
                        </a:rPr>
                        <a:t>texty.</a:t>
                      </a:r>
                      <a:endParaRPr sz="1600">
                        <a:latin typeface="Garamond" panose="02020404030301010803" pitchFamily="18"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896045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délník 7"/>
          <p:cNvSpPr/>
          <p:nvPr/>
        </p:nvSpPr>
        <p:spPr>
          <a:xfrm>
            <a:off x="437617" y="179831"/>
            <a:ext cx="4280980" cy="523220"/>
          </a:xfrm>
          <a:prstGeom prst="rect">
            <a:avLst/>
          </a:prstGeom>
        </p:spPr>
        <p:txBody>
          <a:bodyPr wrap="none">
            <a:spAutoFit/>
          </a:bodyPr>
          <a:lstStyle/>
          <a:p>
            <a:r>
              <a:rPr lang="en-GB" sz="2800" b="1">
                <a:latin typeface="Garamond" panose="02020404030301010803" pitchFamily="18" charset="0"/>
              </a:rPr>
              <a:t>Co jsou reasoning modely?</a:t>
            </a:r>
          </a:p>
        </p:txBody>
      </p:sp>
      <p:sp>
        <p:nvSpPr>
          <p:cNvPr id="9" name="Obdélník 8"/>
          <p:cNvSpPr/>
          <p:nvPr/>
        </p:nvSpPr>
        <p:spPr>
          <a:xfrm>
            <a:off x="437617" y="1034442"/>
            <a:ext cx="6096000" cy="646331"/>
          </a:xfrm>
          <a:prstGeom prst="rect">
            <a:avLst/>
          </a:prstGeom>
        </p:spPr>
        <p:txBody>
          <a:bodyPr>
            <a:spAutoFit/>
          </a:bodyPr>
          <a:lstStyle/>
          <a:p>
            <a:r>
              <a:rPr lang="en-GB">
                <a:latin typeface="Garamond" panose="02020404030301010803" pitchFamily="18" charset="0"/>
              </a:rPr>
              <a:t>Reasoning modely jsou jazykové modely navržené tak, aby nejen generovaly text, ale také prováděly logické a deduktivní závěry.</a:t>
            </a:r>
          </a:p>
        </p:txBody>
      </p:sp>
      <p:sp>
        <p:nvSpPr>
          <p:cNvPr id="10" name="TextovéPole 9"/>
          <p:cNvSpPr txBox="1"/>
          <p:nvPr/>
        </p:nvSpPr>
        <p:spPr>
          <a:xfrm>
            <a:off x="362802" y="2265549"/>
            <a:ext cx="6647598" cy="2031325"/>
          </a:xfrm>
          <a:prstGeom prst="rect">
            <a:avLst/>
          </a:prstGeom>
          <a:solidFill>
            <a:schemeClr val="accent6">
              <a:lumMod val="20000"/>
              <a:lumOff val="80000"/>
            </a:schemeClr>
          </a:solidFill>
        </p:spPr>
        <p:txBody>
          <a:bodyPr wrap="square" rtlCol="0">
            <a:spAutoFit/>
          </a:bodyPr>
          <a:lstStyle/>
          <a:p>
            <a:r>
              <a:rPr lang="en-GB" b="1">
                <a:latin typeface="Garamond" panose="02020404030301010803" pitchFamily="18" charset="0"/>
              </a:rPr>
              <a:t>Klíčové schopnosti:</a:t>
            </a:r>
          </a:p>
          <a:p>
            <a:pPr marL="285750" indent="-285750">
              <a:buFont typeface="Arial" panose="020B0604020202020204" pitchFamily="34" charset="0"/>
              <a:buChar char="•"/>
            </a:pPr>
            <a:r>
              <a:rPr lang="en-GB">
                <a:latin typeface="Garamond" panose="02020404030301010803" pitchFamily="18" charset="0"/>
              </a:rPr>
              <a:t>Řešení vícekrokových úloh </a:t>
            </a:r>
            <a:r>
              <a:rPr lang="en-GB" smtClean="0">
                <a:latin typeface="Garamond" panose="02020404030301010803" pitchFamily="18" charset="0"/>
              </a:rPr>
              <a:t>(</a:t>
            </a:r>
            <a:r>
              <a:rPr lang="cs-CZ" smtClean="0">
                <a:latin typeface="Garamond" panose="02020404030301010803" pitchFamily="18" charset="0"/>
              </a:rPr>
              <a:t>o</a:t>
            </a:r>
            <a:r>
              <a:rPr lang="en-GB" smtClean="0">
                <a:latin typeface="Garamond" panose="02020404030301010803" pitchFamily="18" charset="0"/>
              </a:rPr>
              <a:t>dhalování </a:t>
            </a:r>
            <a:r>
              <a:rPr lang="en-GB">
                <a:latin typeface="Garamond" panose="02020404030301010803" pitchFamily="18" charset="0"/>
              </a:rPr>
              <a:t>souvislostí mezi </a:t>
            </a:r>
            <a:r>
              <a:rPr lang="en-GB" smtClean="0">
                <a:latin typeface="Garamond" panose="02020404030301010803" pitchFamily="18" charset="0"/>
              </a:rPr>
              <a:t>dokumenty</a:t>
            </a:r>
            <a:r>
              <a:rPr lang="cs-CZ" smtClean="0">
                <a:latin typeface="Garamond" panose="02020404030301010803" pitchFamily="18" charset="0"/>
              </a:rPr>
              <a:t>, programování, matematika…</a:t>
            </a:r>
            <a:r>
              <a:rPr lang="en-GB" smtClean="0">
                <a:latin typeface="Garamond" panose="02020404030301010803" pitchFamily="18" charset="0"/>
              </a:rPr>
              <a:t>).</a:t>
            </a:r>
            <a:endParaRPr lang="en-GB">
              <a:latin typeface="Garamond" panose="02020404030301010803" pitchFamily="18" charset="0"/>
            </a:endParaRPr>
          </a:p>
          <a:p>
            <a:pPr marL="285750" indent="-285750">
              <a:buFont typeface="Arial" panose="020B0604020202020204" pitchFamily="34" charset="0"/>
              <a:buChar char="•"/>
            </a:pPr>
            <a:r>
              <a:rPr lang="en-GB">
                <a:latin typeface="Garamond" panose="02020404030301010803" pitchFamily="18" charset="0"/>
              </a:rPr>
              <a:t>Využívání technik jako "chain-of-thought" (řetězec úvah).</a:t>
            </a:r>
          </a:p>
          <a:p>
            <a:pPr marL="285750" indent="-285750">
              <a:buFont typeface="Arial" panose="020B0604020202020204" pitchFamily="34" charset="0"/>
              <a:buChar char="•"/>
            </a:pPr>
            <a:r>
              <a:rPr lang="en-GB">
                <a:latin typeface="Garamond" panose="02020404030301010803" pitchFamily="18" charset="0"/>
              </a:rPr>
              <a:t>Schopnost vysvětlit postup k odpovědi.</a:t>
            </a:r>
          </a:p>
          <a:p>
            <a:pPr marL="285750" indent="-285750">
              <a:buFont typeface="Arial" panose="020B0604020202020204" pitchFamily="34" charset="0"/>
              <a:buChar char="•"/>
            </a:pPr>
            <a:r>
              <a:rPr lang="cs-CZ" smtClean="0">
                <a:latin typeface="Garamond" panose="02020404030301010803" pitchFamily="18" charset="0"/>
              </a:rPr>
              <a:t>Nevýhoda – pomalejší a rychleji spotřebovávají kapacitu kontextového okna</a:t>
            </a:r>
            <a:endParaRPr lang="en-GB">
              <a:latin typeface="Garamond" panose="02020404030301010803" pitchFamily="18" charset="0"/>
            </a:endParaRPr>
          </a:p>
        </p:txBody>
      </p:sp>
      <p:sp>
        <p:nvSpPr>
          <p:cNvPr id="11" name="TextovéPole 10"/>
          <p:cNvSpPr txBox="1"/>
          <p:nvPr/>
        </p:nvSpPr>
        <p:spPr>
          <a:xfrm>
            <a:off x="251808" y="5120708"/>
            <a:ext cx="11760655" cy="646331"/>
          </a:xfrm>
          <a:prstGeom prst="rect">
            <a:avLst/>
          </a:prstGeom>
          <a:noFill/>
        </p:spPr>
        <p:txBody>
          <a:bodyPr wrap="none" rtlCol="0">
            <a:spAutoFit/>
          </a:bodyPr>
          <a:lstStyle/>
          <a:p>
            <a:r>
              <a:rPr lang="cs-CZ" b="1" smtClean="0">
                <a:latin typeface="Garamond" panose="02020404030301010803" pitchFamily="18" charset="0"/>
              </a:rPr>
              <a:t>Nej</a:t>
            </a:r>
            <a:r>
              <a:rPr lang="en-GB" b="1" smtClean="0">
                <a:latin typeface="Garamond" panose="02020404030301010803" pitchFamily="18" charset="0"/>
              </a:rPr>
              <a:t> </a:t>
            </a:r>
            <a:r>
              <a:rPr lang="en-GB" b="1">
                <a:latin typeface="Garamond" panose="02020404030301010803" pitchFamily="18" charset="0"/>
              </a:rPr>
              <a:t>reasoning modely (2025):</a:t>
            </a:r>
          </a:p>
          <a:p>
            <a:r>
              <a:rPr lang="en-GB">
                <a:latin typeface="Garamond" panose="02020404030301010803" pitchFamily="18" charset="0"/>
              </a:rPr>
              <a:t>OpenAI </a:t>
            </a:r>
            <a:r>
              <a:rPr lang="en-GB" smtClean="0">
                <a:latin typeface="Garamond" panose="02020404030301010803" pitchFamily="18" charset="0"/>
              </a:rPr>
              <a:t>o</a:t>
            </a:r>
            <a:r>
              <a:rPr lang="cs-CZ" smtClean="0">
                <a:latin typeface="Garamond" panose="02020404030301010803" pitchFamily="18" charset="0"/>
              </a:rPr>
              <a:t>1, </a:t>
            </a:r>
            <a:r>
              <a:rPr lang="en-GB" smtClean="0">
                <a:latin typeface="Garamond" panose="02020404030301010803" pitchFamily="18" charset="0"/>
              </a:rPr>
              <a:t>Claude </a:t>
            </a:r>
            <a:r>
              <a:rPr lang="en-GB">
                <a:latin typeface="Garamond" panose="02020404030301010803" pitchFamily="18" charset="0"/>
              </a:rPr>
              <a:t>3.7 </a:t>
            </a:r>
            <a:r>
              <a:rPr lang="en-GB" smtClean="0">
                <a:latin typeface="Garamond" panose="02020404030301010803" pitchFamily="18" charset="0"/>
              </a:rPr>
              <a:t>Sonnet</a:t>
            </a:r>
            <a:r>
              <a:rPr lang="cs-CZ" smtClean="0">
                <a:latin typeface="Garamond" panose="02020404030301010803" pitchFamily="18" charset="0"/>
              </a:rPr>
              <a:t>, </a:t>
            </a:r>
            <a:r>
              <a:rPr lang="en-GB" smtClean="0">
                <a:latin typeface="Garamond" panose="02020404030301010803" pitchFamily="18" charset="0"/>
              </a:rPr>
              <a:t>Google </a:t>
            </a:r>
            <a:r>
              <a:rPr lang="en-GB">
                <a:latin typeface="Garamond" panose="02020404030301010803" pitchFamily="18" charset="0"/>
              </a:rPr>
              <a:t>Gemini 2.5 </a:t>
            </a:r>
            <a:r>
              <a:rPr lang="en-GB" smtClean="0">
                <a:latin typeface="Garamond" panose="02020404030301010803" pitchFamily="18" charset="0"/>
              </a:rPr>
              <a:t>Pro</a:t>
            </a:r>
            <a:r>
              <a:rPr lang="cs-CZ" smtClean="0">
                <a:latin typeface="Garamond" panose="02020404030301010803" pitchFamily="18" charset="0"/>
              </a:rPr>
              <a:t>, </a:t>
            </a:r>
            <a:r>
              <a:rPr lang="en-GB" smtClean="0">
                <a:latin typeface="Garamond" panose="02020404030301010803" pitchFamily="18" charset="0"/>
              </a:rPr>
              <a:t>Meta </a:t>
            </a:r>
            <a:r>
              <a:rPr lang="en-GB">
                <a:latin typeface="Garamond" panose="02020404030301010803" pitchFamily="18" charset="0"/>
              </a:rPr>
              <a:t>Llama 4 </a:t>
            </a:r>
            <a:r>
              <a:rPr lang="en-GB" smtClean="0">
                <a:latin typeface="Garamond" panose="02020404030301010803" pitchFamily="18" charset="0"/>
              </a:rPr>
              <a:t>Behemoth</a:t>
            </a:r>
            <a:r>
              <a:rPr lang="cs-CZ" smtClean="0">
                <a:latin typeface="Garamond" panose="02020404030301010803" pitchFamily="18" charset="0"/>
              </a:rPr>
              <a:t>, </a:t>
            </a:r>
            <a:r>
              <a:rPr lang="en-GB" smtClean="0">
                <a:latin typeface="Garamond" panose="02020404030301010803" pitchFamily="18" charset="0"/>
              </a:rPr>
              <a:t>DeepSeek R1</a:t>
            </a:r>
            <a:r>
              <a:rPr lang="cs-CZ" smtClean="0">
                <a:latin typeface="Garamond" panose="02020404030301010803" pitchFamily="18" charset="0"/>
              </a:rPr>
              <a:t>, </a:t>
            </a:r>
            <a:r>
              <a:rPr lang="en-GB" smtClean="0">
                <a:latin typeface="Garamond" panose="02020404030301010803" pitchFamily="18" charset="0"/>
              </a:rPr>
              <a:t>xAI </a:t>
            </a:r>
            <a:r>
              <a:rPr lang="en-GB">
                <a:latin typeface="Garamond" panose="02020404030301010803" pitchFamily="18" charset="0"/>
              </a:rPr>
              <a:t>Grok </a:t>
            </a:r>
            <a:r>
              <a:rPr lang="en-GB" smtClean="0">
                <a:latin typeface="Garamond" panose="02020404030301010803" pitchFamily="18" charset="0"/>
              </a:rPr>
              <a:t>3</a:t>
            </a:r>
            <a:r>
              <a:rPr lang="cs-CZ" smtClean="0">
                <a:latin typeface="Garamond" panose="02020404030301010803" pitchFamily="18" charset="0"/>
              </a:rPr>
              <a:t>, </a:t>
            </a:r>
            <a:r>
              <a:rPr lang="en-GB" smtClean="0">
                <a:latin typeface="Garamond" panose="02020404030301010803" pitchFamily="18" charset="0"/>
              </a:rPr>
              <a:t>Alibaba QwQ-32B</a:t>
            </a:r>
            <a:endParaRPr lang="en-GB">
              <a:latin typeface="Garamond" panose="02020404030301010803" pitchFamily="18" charset="0"/>
            </a:endParaRPr>
          </a:p>
        </p:txBody>
      </p:sp>
      <p:sp>
        <p:nvSpPr>
          <p:cNvPr id="17" name="TextovéPole 16"/>
          <p:cNvSpPr txBox="1"/>
          <p:nvPr/>
        </p:nvSpPr>
        <p:spPr>
          <a:xfrm>
            <a:off x="7273053" y="2265549"/>
            <a:ext cx="4739410" cy="1600438"/>
          </a:xfrm>
          <a:prstGeom prst="rect">
            <a:avLst/>
          </a:prstGeom>
          <a:solidFill>
            <a:schemeClr val="accent4">
              <a:lumMod val="20000"/>
              <a:lumOff val="80000"/>
            </a:schemeClr>
          </a:solidFill>
        </p:spPr>
        <p:txBody>
          <a:bodyPr wrap="square" rtlCol="0">
            <a:spAutoFit/>
          </a:bodyPr>
          <a:lstStyle/>
          <a:p>
            <a:pPr lvl="0" algn="just" eaLnBrk="0" fontAlgn="base" hangingPunct="0">
              <a:spcBef>
                <a:spcPct val="0"/>
              </a:spcBef>
              <a:spcAft>
                <a:spcPct val="0"/>
              </a:spcAft>
            </a:pPr>
            <a:r>
              <a:rPr lang="en-US" altLang="en-US" sz="1400" b="1">
                <a:latin typeface="Garamond" panose="02020404030301010803" pitchFamily="18" charset="0"/>
              </a:rPr>
              <a:t>Jak to funguje:</a:t>
            </a:r>
          </a:p>
          <a:p>
            <a:pPr marL="285750" lvl="0" indent="-285750" algn="just" eaLnBrk="0" fontAlgn="base" hangingPunct="0">
              <a:spcBef>
                <a:spcPct val="0"/>
              </a:spcBef>
              <a:spcAft>
                <a:spcPct val="0"/>
              </a:spcAft>
              <a:buFont typeface="Arial" panose="020B0604020202020204" pitchFamily="34" charset="0"/>
              <a:buChar char="•"/>
            </a:pPr>
            <a:r>
              <a:rPr lang="en-US" altLang="en-US" sz="1400">
                <a:latin typeface="Garamond" panose="02020404030301010803" pitchFamily="18" charset="0"/>
              </a:rPr>
              <a:t>Model je instruován, aby „myslel krok za krokem“ (např. přidáním fráze „Pojďme na to krok za krokem“).</a:t>
            </a:r>
          </a:p>
          <a:p>
            <a:pPr marL="285750" lvl="0" indent="-285750" algn="just" eaLnBrk="0" fontAlgn="base" hangingPunct="0">
              <a:spcBef>
                <a:spcPct val="0"/>
              </a:spcBef>
              <a:spcAft>
                <a:spcPct val="0"/>
              </a:spcAft>
              <a:buFont typeface="Arial" panose="020B0604020202020204" pitchFamily="34" charset="0"/>
              <a:buChar char="•"/>
            </a:pPr>
            <a:r>
              <a:rPr lang="en-US" altLang="en-US" sz="1400">
                <a:latin typeface="Garamond" panose="02020404030301010803" pitchFamily="18" charset="0"/>
              </a:rPr>
              <a:t>Interně mohou být použity speciální tokeny (např. </a:t>
            </a:r>
            <a:r>
              <a:rPr lang="en-US" altLang="en-US" sz="1400">
                <a:solidFill>
                  <a:srgbClr val="FF0000"/>
                </a:solidFill>
                <a:latin typeface="Garamond" panose="02020404030301010803" pitchFamily="18" charset="0"/>
              </a:rPr>
              <a:t>&lt;thinking&gt;, &lt;reasoning&gt;) </a:t>
            </a:r>
            <a:r>
              <a:rPr lang="en-US" altLang="en-US" sz="1400">
                <a:latin typeface="Garamond" panose="02020404030301010803" pitchFamily="18" charset="0"/>
              </a:rPr>
              <a:t>k označení fází uvažování.</a:t>
            </a:r>
          </a:p>
          <a:p>
            <a:pPr marL="285750" lvl="0" indent="-285750" algn="just" eaLnBrk="0" fontAlgn="base" hangingPunct="0">
              <a:spcBef>
                <a:spcPct val="0"/>
              </a:spcBef>
              <a:spcAft>
                <a:spcPct val="0"/>
              </a:spcAft>
              <a:buFont typeface="Arial" panose="020B0604020202020204" pitchFamily="34" charset="0"/>
              <a:buChar char="•"/>
            </a:pPr>
            <a:r>
              <a:rPr lang="en-US" altLang="en-US" sz="1400">
                <a:latin typeface="Garamond" panose="02020404030301010803" pitchFamily="18" charset="0"/>
              </a:rPr>
              <a:t>Tyto tokeny umožňují modelu alokovat více výpočetních zdrojů na jednotlivé kroky a zlepšit tak kvalitu odpovědi</a:t>
            </a:r>
            <a:r>
              <a:rPr lang="en-US" altLang="en-US" sz="1400" smtClean="0">
                <a:latin typeface="Garamond" panose="02020404030301010803" pitchFamily="18" charset="0"/>
              </a:rPr>
              <a:t>.</a:t>
            </a:r>
            <a:endParaRPr lang="en-US" altLang="en-US" sz="1400">
              <a:latin typeface="Garamond" panose="02020404030301010803" pitchFamily="18" charset="0"/>
            </a:endParaRPr>
          </a:p>
        </p:txBody>
      </p:sp>
    </p:spTree>
    <p:extLst>
      <p:ext uri="{BB962C8B-B14F-4D97-AF65-F5344CB8AC3E}">
        <p14:creationId xmlns:p14="http://schemas.microsoft.com/office/powerpoint/2010/main" val="3570847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742950" y="2171700"/>
            <a:ext cx="7610475" cy="3171825"/>
          </a:xfrm>
        </p:spPr>
        <p:txBody>
          <a:bodyPr>
            <a:normAutofit fontScale="92500" lnSpcReduction="20000"/>
          </a:bodyPr>
          <a:lstStyle/>
          <a:p>
            <a:pPr marL="0" indent="0">
              <a:buNone/>
            </a:pPr>
            <a:r>
              <a:rPr lang="en-GB" sz="2000" b="1">
                <a:solidFill>
                  <a:srgbClr val="C00000"/>
                </a:solidFill>
                <a:latin typeface="Garamond" panose="02020404030301010803" pitchFamily="18" charset="0"/>
              </a:rPr>
              <a:t>Základní principy</a:t>
            </a:r>
          </a:p>
          <a:p>
            <a:r>
              <a:rPr lang="en-GB" sz="1800" b="1">
                <a:latin typeface="Garamond" panose="02020404030301010803" pitchFamily="18" charset="0"/>
              </a:rPr>
              <a:t>Buďte konkrétní a jednoznační</a:t>
            </a:r>
            <a:r>
              <a:rPr lang="en-GB" sz="1800">
                <a:latin typeface="Garamond" panose="02020404030301010803" pitchFamily="18" charset="0"/>
              </a:rPr>
              <a:t> – formulujte jasné instrukce.</a:t>
            </a:r>
          </a:p>
          <a:p>
            <a:r>
              <a:rPr lang="en-GB" sz="1800" b="1">
                <a:latin typeface="Garamond" panose="02020404030301010803" pitchFamily="18" charset="0"/>
              </a:rPr>
              <a:t>Uveďte kontext</a:t>
            </a:r>
            <a:r>
              <a:rPr lang="en-GB" sz="1800">
                <a:latin typeface="Garamond" panose="02020404030301010803" pitchFamily="18" charset="0"/>
              </a:rPr>
              <a:t> – kdo jste, co potřebujete, komu je výstup určen.</a:t>
            </a:r>
          </a:p>
          <a:p>
            <a:r>
              <a:rPr lang="en-GB" sz="1800" b="1">
                <a:latin typeface="Garamond" panose="02020404030301010803" pitchFamily="18" charset="0"/>
              </a:rPr>
              <a:t>Rozdělte úkol na kroky</a:t>
            </a:r>
            <a:r>
              <a:rPr lang="en-GB" sz="1800">
                <a:latin typeface="Garamond" panose="02020404030301010803" pitchFamily="18" charset="0"/>
              </a:rPr>
              <a:t> – krokový postup je spolehlivější než jednorázový dotaz.</a:t>
            </a:r>
          </a:p>
          <a:p>
            <a:r>
              <a:rPr lang="en-GB" sz="1800" b="1">
                <a:latin typeface="Garamond" panose="02020404030301010803" pitchFamily="18" charset="0"/>
              </a:rPr>
              <a:t>Doplňte příklady</a:t>
            </a:r>
            <a:r>
              <a:rPr lang="en-GB" sz="1800">
                <a:latin typeface="Garamond" panose="02020404030301010803" pitchFamily="18" charset="0"/>
              </a:rPr>
              <a:t> – pomáhají modelu pochopit vaše očekávání.</a:t>
            </a:r>
          </a:p>
          <a:p>
            <a:endParaRPr sz="2000">
              <a:latin typeface="Garamond" panose="02020404030301010803" pitchFamily="18" charset="0"/>
            </a:endParaRPr>
          </a:p>
          <a:p>
            <a:pPr marL="0" indent="0">
              <a:buNone/>
            </a:pPr>
            <a:r>
              <a:rPr lang="en-GB" sz="2000" b="1">
                <a:solidFill>
                  <a:srgbClr val="C00000"/>
                </a:solidFill>
                <a:latin typeface="Garamond" panose="02020404030301010803" pitchFamily="18" charset="0"/>
              </a:rPr>
              <a:t>Na co si dát pozor</a:t>
            </a:r>
          </a:p>
          <a:p>
            <a:r>
              <a:rPr lang="en-GB" sz="1800" b="1">
                <a:latin typeface="Garamond" panose="02020404030301010803" pitchFamily="18" charset="0"/>
              </a:rPr>
              <a:t>Vágní nebo neúplné prompty</a:t>
            </a:r>
            <a:r>
              <a:rPr lang="en-GB" sz="1800">
                <a:latin typeface="Garamond" panose="02020404030301010803" pitchFamily="18" charset="0"/>
              </a:rPr>
              <a:t> – model si začne „domýšlet“.</a:t>
            </a:r>
          </a:p>
          <a:p>
            <a:r>
              <a:rPr lang="en-GB" sz="1800" b="1">
                <a:latin typeface="Garamond" panose="02020404030301010803" pitchFamily="18" charset="0"/>
              </a:rPr>
              <a:t>Příliš mnoho informací</a:t>
            </a:r>
            <a:r>
              <a:rPr lang="en-GB" sz="1800">
                <a:latin typeface="Garamond" panose="02020404030301010803" pitchFamily="18" charset="0"/>
              </a:rPr>
              <a:t> – může vést k nejasnému výstupu.</a:t>
            </a:r>
          </a:p>
          <a:p>
            <a:r>
              <a:rPr lang="en-GB" sz="1800" b="1">
                <a:latin typeface="Garamond" panose="02020404030301010803" pitchFamily="18" charset="0"/>
              </a:rPr>
              <a:t>Jedno téma na vlákno</a:t>
            </a:r>
            <a:r>
              <a:rPr lang="en-GB" sz="1800">
                <a:latin typeface="Garamond" panose="02020404030301010803" pitchFamily="18" charset="0"/>
              </a:rPr>
              <a:t> – nemíchejte úkoly, zmatete kontext.</a:t>
            </a:r>
          </a:p>
        </p:txBody>
      </p:sp>
      <p:sp>
        <p:nvSpPr>
          <p:cNvPr id="7" name="TextovéPole 6"/>
          <p:cNvSpPr txBox="1"/>
          <p:nvPr/>
        </p:nvSpPr>
        <p:spPr>
          <a:xfrm>
            <a:off x="742950" y="723900"/>
            <a:ext cx="6213817" cy="584775"/>
          </a:xfrm>
          <a:prstGeom prst="rect">
            <a:avLst/>
          </a:prstGeom>
          <a:noFill/>
        </p:spPr>
        <p:txBody>
          <a:bodyPr wrap="none" rtlCol="0">
            <a:spAutoFit/>
          </a:bodyPr>
          <a:lstStyle/>
          <a:p>
            <a:r>
              <a:rPr lang="cs-CZ" sz="3200" b="1" smtClean="0">
                <a:latin typeface="Garamond" panose="02020404030301010803" pitchFamily="18" charset="0"/>
              </a:rPr>
              <a:t>Jak efektivně komunikovat s LLM?</a:t>
            </a:r>
            <a:endParaRPr lang="en-GB" sz="3200" b="1">
              <a:latin typeface="Garamond" panose="02020404030301010803" pitchFamily="18" charset="0"/>
            </a:endParaRPr>
          </a:p>
        </p:txBody>
      </p:sp>
      <p:sp>
        <p:nvSpPr>
          <p:cNvPr id="8" name="TextovéPole 7"/>
          <p:cNvSpPr txBox="1"/>
          <p:nvPr/>
        </p:nvSpPr>
        <p:spPr>
          <a:xfrm>
            <a:off x="8763000" y="2171700"/>
            <a:ext cx="2838450" cy="1200329"/>
          </a:xfrm>
          <a:prstGeom prst="rect">
            <a:avLst/>
          </a:prstGeom>
          <a:solidFill>
            <a:schemeClr val="accent2"/>
          </a:solidFill>
        </p:spPr>
        <p:txBody>
          <a:bodyPr wrap="square" rtlCol="0">
            <a:spAutoFit/>
          </a:bodyPr>
          <a:lstStyle/>
          <a:p>
            <a:r>
              <a:rPr lang="cs-CZ" smtClean="0">
                <a:latin typeface="Garamond" panose="02020404030301010803" pitchFamily="18" charset="0"/>
              </a:rPr>
              <a:t>I promty můžete ladit s LLM! Zeptejte se ho, jak ideálně naformulovat váš dotaz tak, aby ho pochopil LLM.</a:t>
            </a:r>
            <a:endParaRPr lang="en-GB">
              <a:latin typeface="Garamond" panose="02020404030301010803" pitchFamily="18" charset="0"/>
            </a:endParaRPr>
          </a:p>
        </p:txBody>
      </p:sp>
    </p:spTree>
    <p:extLst>
      <p:ext uri="{BB962C8B-B14F-4D97-AF65-F5344CB8AC3E}">
        <p14:creationId xmlns:p14="http://schemas.microsoft.com/office/powerpoint/2010/main" val="484414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ovéPole 4"/>
          <p:cNvSpPr txBox="1"/>
          <p:nvPr/>
        </p:nvSpPr>
        <p:spPr>
          <a:xfrm>
            <a:off x="219075" y="348561"/>
            <a:ext cx="2903359" cy="461665"/>
          </a:xfrm>
          <a:prstGeom prst="rect">
            <a:avLst/>
          </a:prstGeom>
          <a:noFill/>
        </p:spPr>
        <p:txBody>
          <a:bodyPr wrap="none" rtlCol="0">
            <a:spAutoFit/>
          </a:bodyPr>
          <a:lstStyle/>
          <a:p>
            <a:r>
              <a:rPr lang="cs-CZ" sz="2400" b="1" smtClean="0">
                <a:latin typeface="Garamond" panose="02020404030301010803" pitchFamily="18" charset="0"/>
              </a:rPr>
              <a:t>Příklad: Email chaos</a:t>
            </a:r>
            <a:endParaRPr lang="en-GB" sz="2400" b="1">
              <a:latin typeface="Garamond" panose="02020404030301010803" pitchFamily="18" charset="0"/>
            </a:endParaRPr>
          </a:p>
        </p:txBody>
      </p:sp>
      <p:sp>
        <p:nvSpPr>
          <p:cNvPr id="6" name="TextovéPole 5"/>
          <p:cNvSpPr txBox="1"/>
          <p:nvPr/>
        </p:nvSpPr>
        <p:spPr>
          <a:xfrm>
            <a:off x="219075" y="1426517"/>
            <a:ext cx="6781800" cy="923330"/>
          </a:xfrm>
          <a:prstGeom prst="rect">
            <a:avLst/>
          </a:prstGeom>
          <a:solidFill>
            <a:schemeClr val="accent2"/>
          </a:solidFill>
        </p:spPr>
        <p:txBody>
          <a:bodyPr wrap="square" rtlCol="0">
            <a:spAutoFit/>
          </a:bodyPr>
          <a:lstStyle/>
          <a:p>
            <a:pPr algn="just"/>
            <a:r>
              <a:rPr lang="cs-CZ" smtClean="0">
                <a:latin typeface="Garamond" panose="02020404030301010803" pitchFamily="18" charset="0"/>
              </a:rPr>
              <a:t>Skupina lidí se v emailové konverzaci dohaduje o termínu schůzky, průběžně mění svoje termíny, rezervace zasedačky se taky mění,… jak z této chaotické konverzace zjistit optimální čas a místo konání jednání?</a:t>
            </a:r>
            <a:endParaRPr lang="en-GB">
              <a:latin typeface="Garamond" panose="02020404030301010803" pitchFamily="18" charset="0"/>
            </a:endParaRPr>
          </a:p>
        </p:txBody>
      </p:sp>
      <p:graphicFrame>
        <p:nvGraphicFramePr>
          <p:cNvPr id="7" name="Tabulka 6"/>
          <p:cNvGraphicFramePr>
            <a:graphicFrameLocks noGrp="1"/>
          </p:cNvGraphicFramePr>
          <p:nvPr>
            <p:extLst>
              <p:ext uri="{D42A27DB-BD31-4B8C-83A1-F6EECF244321}">
                <p14:modId xmlns:p14="http://schemas.microsoft.com/office/powerpoint/2010/main" val="404336199"/>
              </p:ext>
            </p:extLst>
          </p:nvPr>
        </p:nvGraphicFramePr>
        <p:xfrm>
          <a:off x="390525" y="3582428"/>
          <a:ext cx="11188939" cy="2142096"/>
        </p:xfrm>
        <a:graphic>
          <a:graphicData uri="http://schemas.openxmlformats.org/drawingml/2006/table">
            <a:tbl>
              <a:tblPr>
                <a:tableStyleId>{0E3FDE45-AF77-4B5C-9715-49D594BDF05E}</a:tableStyleId>
              </a:tblPr>
              <a:tblGrid>
                <a:gridCol w="1012530">
                  <a:extLst>
                    <a:ext uri="{9D8B030D-6E8A-4147-A177-3AD203B41FA5}">
                      <a16:colId xmlns:a16="http://schemas.microsoft.com/office/drawing/2014/main" val="2082521605"/>
                    </a:ext>
                  </a:extLst>
                </a:gridCol>
                <a:gridCol w="1851560">
                  <a:extLst>
                    <a:ext uri="{9D8B030D-6E8A-4147-A177-3AD203B41FA5}">
                      <a16:colId xmlns:a16="http://schemas.microsoft.com/office/drawing/2014/main" val="2637428605"/>
                    </a:ext>
                  </a:extLst>
                </a:gridCol>
                <a:gridCol w="1152525">
                  <a:extLst>
                    <a:ext uri="{9D8B030D-6E8A-4147-A177-3AD203B41FA5}">
                      <a16:colId xmlns:a16="http://schemas.microsoft.com/office/drawing/2014/main" val="3948188872"/>
                    </a:ext>
                  </a:extLst>
                </a:gridCol>
                <a:gridCol w="3810000">
                  <a:extLst>
                    <a:ext uri="{9D8B030D-6E8A-4147-A177-3AD203B41FA5}">
                      <a16:colId xmlns:a16="http://schemas.microsoft.com/office/drawing/2014/main" val="3882101234"/>
                    </a:ext>
                  </a:extLst>
                </a:gridCol>
                <a:gridCol w="1485900">
                  <a:extLst>
                    <a:ext uri="{9D8B030D-6E8A-4147-A177-3AD203B41FA5}">
                      <a16:colId xmlns:a16="http://schemas.microsoft.com/office/drawing/2014/main" val="3972102273"/>
                    </a:ext>
                  </a:extLst>
                </a:gridCol>
                <a:gridCol w="1304925">
                  <a:extLst>
                    <a:ext uri="{9D8B030D-6E8A-4147-A177-3AD203B41FA5}">
                      <a16:colId xmlns:a16="http://schemas.microsoft.com/office/drawing/2014/main" val="3891635239"/>
                    </a:ext>
                  </a:extLst>
                </a:gridCol>
                <a:gridCol w="571499">
                  <a:extLst>
                    <a:ext uri="{9D8B030D-6E8A-4147-A177-3AD203B41FA5}">
                      <a16:colId xmlns:a16="http://schemas.microsoft.com/office/drawing/2014/main" val="3940086788"/>
                    </a:ext>
                  </a:extLst>
                </a:gridCol>
              </a:tblGrid>
              <a:tr h="208977">
                <a:tc>
                  <a:txBody>
                    <a:bodyPr/>
                    <a:lstStyle/>
                    <a:p>
                      <a:r>
                        <a:rPr lang="en-GB" sz="900"/>
                        <a:t>Name</a:t>
                      </a:r>
                    </a:p>
                  </a:txBody>
                  <a:tcPr marL="30429" marR="30429" marT="15214" marB="15214" anchor="ctr"/>
                </a:tc>
                <a:tc>
                  <a:txBody>
                    <a:bodyPr/>
                    <a:lstStyle/>
                    <a:p>
                      <a:r>
                        <a:rPr lang="en-GB" sz="900"/>
                        <a:t>Email</a:t>
                      </a:r>
                    </a:p>
                  </a:txBody>
                  <a:tcPr marL="30429" marR="30429" marT="15214" marB="15214" anchor="ctr"/>
                </a:tc>
                <a:tc>
                  <a:txBody>
                    <a:bodyPr/>
                    <a:lstStyle/>
                    <a:p>
                      <a:r>
                        <a:rPr lang="en-GB" sz="900"/>
                        <a:t>Final suggested date(s)</a:t>
                      </a:r>
                    </a:p>
                  </a:txBody>
                  <a:tcPr marL="30429" marR="30429" marT="15214" marB="15214" anchor="ctr"/>
                </a:tc>
                <a:tc>
                  <a:txBody>
                    <a:bodyPr/>
                    <a:lstStyle/>
                    <a:p>
                      <a:r>
                        <a:rPr lang="en-GB" sz="900"/>
                        <a:t>Proposed topic or contribution</a:t>
                      </a:r>
                    </a:p>
                  </a:txBody>
                  <a:tcPr marL="30429" marR="30429" marT="15214" marB="15214" anchor="ctr"/>
                </a:tc>
                <a:tc>
                  <a:txBody>
                    <a:bodyPr/>
                    <a:lstStyle/>
                    <a:p>
                      <a:r>
                        <a:rPr lang="en-GB" sz="900"/>
                        <a:t>Proposed presentation time</a:t>
                      </a:r>
                    </a:p>
                  </a:txBody>
                  <a:tcPr marL="30429" marR="30429" marT="15214" marB="15214" anchor="ctr"/>
                </a:tc>
                <a:tc>
                  <a:txBody>
                    <a:bodyPr/>
                    <a:lstStyle/>
                    <a:p>
                      <a:r>
                        <a:rPr lang="en-GB" sz="900"/>
                        <a:t>Preferred meeting type</a:t>
                      </a:r>
                    </a:p>
                  </a:txBody>
                  <a:tcPr marL="30429" marR="30429" marT="15214" marB="15214" anchor="ctr"/>
                </a:tc>
                <a:tc>
                  <a:txBody>
                    <a:bodyPr/>
                    <a:lstStyle/>
                    <a:p>
                      <a:r>
                        <a:rPr lang="en-GB" sz="900"/>
                        <a:t>Bloc</a:t>
                      </a:r>
                    </a:p>
                  </a:txBody>
                  <a:tcPr marL="30429" marR="30429" marT="15214" marB="15214" anchor="ctr"/>
                </a:tc>
                <a:extLst>
                  <a:ext uri="{0D108BD9-81ED-4DB2-BD59-A6C34878D82A}">
                    <a16:rowId xmlns:a16="http://schemas.microsoft.com/office/drawing/2014/main" val="2911742581"/>
                  </a:ext>
                </a:extLst>
              </a:tr>
              <a:tr h="208977">
                <a:tc>
                  <a:txBody>
                    <a:bodyPr/>
                    <a:lstStyle/>
                    <a:p>
                      <a:r>
                        <a:rPr lang="en-GB" sz="900"/>
                        <a:t>Thomas Weber</a:t>
                      </a:r>
                    </a:p>
                  </a:txBody>
                  <a:tcPr marL="30429" marR="30429" marT="15214" marB="15214" anchor="ctr"/>
                </a:tc>
                <a:tc>
                  <a:txBody>
                    <a:bodyPr/>
                    <a:lstStyle/>
                    <a:p>
                      <a:r>
                        <a:rPr lang="en-GB" sz="900"/>
                        <a:t>t.weber@radiation-institute.org</a:t>
                      </a:r>
                    </a:p>
                  </a:txBody>
                  <a:tcPr marL="30429" marR="30429" marT="15214" marB="15214" anchor="ctr"/>
                </a:tc>
                <a:tc>
                  <a:txBody>
                    <a:bodyPr/>
                    <a:lstStyle/>
                    <a:p>
                      <a:r>
                        <a:rPr lang="en-GB" sz="900"/>
                        <a:t>April 16, 10:00-12:00</a:t>
                      </a:r>
                    </a:p>
                  </a:txBody>
                  <a:tcPr marL="30429" marR="30429" marT="15214" marB="15214" anchor="ctr"/>
                </a:tc>
                <a:tc>
                  <a:txBody>
                    <a:bodyPr/>
                    <a:lstStyle/>
                    <a:p>
                      <a:r>
                        <a:rPr lang="en-GB" sz="900"/>
                        <a:t>Brief introduction to overall LLM implementation vision</a:t>
                      </a:r>
                    </a:p>
                  </a:txBody>
                  <a:tcPr marL="30429" marR="30429" marT="15214" marB="15214" anchor="ctr"/>
                </a:tc>
                <a:tc>
                  <a:txBody>
                    <a:bodyPr/>
                    <a:lstStyle/>
                    <a:p>
                      <a:r>
                        <a:rPr lang="en-GB" sz="900"/>
                        <a:t>n/a</a:t>
                      </a:r>
                    </a:p>
                  </a:txBody>
                  <a:tcPr marL="30429" marR="30429" marT="15214" marB="15214" anchor="ctr"/>
                </a:tc>
                <a:tc>
                  <a:txBody>
                    <a:bodyPr/>
                    <a:lstStyle/>
                    <a:p>
                      <a:r>
                        <a:rPr lang="en-GB" sz="900"/>
                        <a:t>in-person</a:t>
                      </a:r>
                    </a:p>
                  </a:txBody>
                  <a:tcPr marL="30429" marR="30429" marT="15214" marB="15214" anchor="ctr"/>
                </a:tc>
                <a:tc>
                  <a:txBody>
                    <a:bodyPr/>
                    <a:lstStyle/>
                    <a:p>
                      <a:r>
                        <a:rPr lang="en-GB" sz="900"/>
                        <a:t>Bloc 1</a:t>
                      </a:r>
                    </a:p>
                  </a:txBody>
                  <a:tcPr marL="30429" marR="30429" marT="15214" marB="15214" anchor="ctr"/>
                </a:tc>
                <a:extLst>
                  <a:ext uri="{0D108BD9-81ED-4DB2-BD59-A6C34878D82A}">
                    <a16:rowId xmlns:a16="http://schemas.microsoft.com/office/drawing/2014/main" val="2412108309"/>
                  </a:ext>
                </a:extLst>
              </a:tr>
              <a:tr h="303033">
                <a:tc>
                  <a:txBody>
                    <a:bodyPr/>
                    <a:lstStyle/>
                    <a:p>
                      <a:r>
                        <a:rPr lang="en-GB" sz="900"/>
                        <a:t>Anna Schmidt</a:t>
                      </a:r>
                    </a:p>
                  </a:txBody>
                  <a:tcPr marL="30429" marR="30429" marT="15214" marB="15214" anchor="ctr"/>
                </a:tc>
                <a:tc>
                  <a:txBody>
                    <a:bodyPr/>
                    <a:lstStyle/>
                    <a:p>
                      <a:r>
                        <a:rPr lang="en-GB" sz="900"/>
                        <a:t>a.schmidt@radiation-institute.org</a:t>
                      </a:r>
                    </a:p>
                  </a:txBody>
                  <a:tcPr marL="30429" marR="30429" marT="15214" marB="15214" anchor="ctr"/>
                </a:tc>
                <a:tc>
                  <a:txBody>
                    <a:bodyPr/>
                    <a:lstStyle/>
                    <a:p>
                      <a:r>
                        <a:rPr lang="en-GB" sz="900"/>
                        <a:t>April 16, 10:00-12:00</a:t>
                      </a:r>
                    </a:p>
                  </a:txBody>
                  <a:tcPr marL="30429" marR="30429" marT="15214" marB="15214" anchor="ctr"/>
                </a:tc>
                <a:tc>
                  <a:txBody>
                    <a:bodyPr/>
                    <a:lstStyle/>
                    <a:p>
                      <a:r>
                        <a:rPr lang="en-GB" sz="900"/>
                        <a:t>Legal framework for AI-assisted environmental radiation monitoring</a:t>
                      </a:r>
                    </a:p>
                  </a:txBody>
                  <a:tcPr marL="30429" marR="30429" marT="15214" marB="15214" anchor="ctr"/>
                </a:tc>
                <a:tc>
                  <a:txBody>
                    <a:bodyPr/>
                    <a:lstStyle/>
                    <a:p>
                      <a:r>
                        <a:rPr lang="en-GB" sz="900"/>
                        <a:t>8</a:t>
                      </a:r>
                    </a:p>
                  </a:txBody>
                  <a:tcPr marL="30429" marR="30429" marT="15214" marB="15214" anchor="ctr"/>
                </a:tc>
                <a:tc>
                  <a:txBody>
                    <a:bodyPr/>
                    <a:lstStyle/>
                    <a:p>
                      <a:r>
                        <a:rPr lang="en-GB" sz="900"/>
                        <a:t>in-person</a:t>
                      </a:r>
                    </a:p>
                  </a:txBody>
                  <a:tcPr marL="30429" marR="30429" marT="15214" marB="15214" anchor="ctr"/>
                </a:tc>
                <a:tc>
                  <a:txBody>
                    <a:bodyPr/>
                    <a:lstStyle/>
                    <a:p>
                      <a:r>
                        <a:rPr lang="en-GB" sz="900"/>
                        <a:t>Bloc 2</a:t>
                      </a:r>
                    </a:p>
                  </a:txBody>
                  <a:tcPr marL="30429" marR="30429" marT="15214" marB="15214" anchor="ctr"/>
                </a:tc>
                <a:extLst>
                  <a:ext uri="{0D108BD9-81ED-4DB2-BD59-A6C34878D82A}">
                    <a16:rowId xmlns:a16="http://schemas.microsoft.com/office/drawing/2014/main" val="3743686237"/>
                  </a:ext>
                </a:extLst>
              </a:tr>
              <a:tr h="303033">
                <a:tc>
                  <a:txBody>
                    <a:bodyPr/>
                    <a:lstStyle/>
                    <a:p>
                      <a:r>
                        <a:rPr lang="en-GB" sz="900"/>
                        <a:t>Marcus Hoffmann</a:t>
                      </a:r>
                    </a:p>
                  </a:txBody>
                  <a:tcPr marL="30429" marR="30429" marT="15214" marB="15214" anchor="ctr"/>
                </a:tc>
                <a:tc>
                  <a:txBody>
                    <a:bodyPr/>
                    <a:lstStyle/>
                    <a:p>
                      <a:r>
                        <a:rPr lang="en-GB" sz="900"/>
                        <a:t>m.hoffmann@radiation-institute.org</a:t>
                      </a:r>
                    </a:p>
                  </a:txBody>
                  <a:tcPr marL="30429" marR="30429" marT="15214" marB="15214" anchor="ctr"/>
                </a:tc>
                <a:tc>
                  <a:txBody>
                    <a:bodyPr/>
                    <a:lstStyle/>
                    <a:p>
                      <a:r>
                        <a:rPr lang="en-GB" sz="900"/>
                        <a:t>April 16, 10:00-12:00</a:t>
                      </a:r>
                    </a:p>
                  </a:txBody>
                  <a:tcPr marL="30429" marR="30429" marT="15214" marB="15214" anchor="ctr"/>
                </a:tc>
                <a:tc>
                  <a:txBody>
                    <a:bodyPr/>
                    <a:lstStyle/>
                    <a:p>
                      <a:r>
                        <a:rPr lang="en-GB" sz="900"/>
                        <a:t>Anomaly detection in time-series radiation monitoring data using LLMs</a:t>
                      </a:r>
                    </a:p>
                  </a:txBody>
                  <a:tcPr marL="30429" marR="30429" marT="15214" marB="15214" anchor="ctr"/>
                </a:tc>
                <a:tc>
                  <a:txBody>
                    <a:bodyPr/>
                    <a:lstStyle/>
                    <a:p>
                      <a:r>
                        <a:rPr lang="en-GB" sz="900"/>
                        <a:t>12</a:t>
                      </a:r>
                    </a:p>
                  </a:txBody>
                  <a:tcPr marL="30429" marR="30429" marT="15214" marB="15214" anchor="ctr"/>
                </a:tc>
                <a:tc>
                  <a:txBody>
                    <a:bodyPr/>
                    <a:lstStyle/>
                    <a:p>
                      <a:r>
                        <a:rPr lang="en-GB" sz="900"/>
                        <a:t>in-person</a:t>
                      </a:r>
                    </a:p>
                  </a:txBody>
                  <a:tcPr marL="30429" marR="30429" marT="15214" marB="15214" anchor="ctr"/>
                </a:tc>
                <a:tc>
                  <a:txBody>
                    <a:bodyPr/>
                    <a:lstStyle/>
                    <a:p>
                      <a:r>
                        <a:rPr lang="en-GB" sz="900"/>
                        <a:t>Bloc 1</a:t>
                      </a:r>
                    </a:p>
                  </a:txBody>
                  <a:tcPr marL="30429" marR="30429" marT="15214" marB="15214" anchor="ctr"/>
                </a:tc>
                <a:extLst>
                  <a:ext uri="{0D108BD9-81ED-4DB2-BD59-A6C34878D82A}">
                    <a16:rowId xmlns:a16="http://schemas.microsoft.com/office/drawing/2014/main" val="4215283441"/>
                  </a:ext>
                </a:extLst>
              </a:tr>
              <a:tr h="303033">
                <a:tc>
                  <a:txBody>
                    <a:bodyPr/>
                    <a:lstStyle/>
                    <a:p>
                      <a:r>
                        <a:rPr lang="en-GB" sz="900"/>
                        <a:t>Elena Petrovic</a:t>
                      </a:r>
                    </a:p>
                  </a:txBody>
                  <a:tcPr marL="30429" marR="30429" marT="15214" marB="15214" anchor="ctr"/>
                </a:tc>
                <a:tc>
                  <a:txBody>
                    <a:bodyPr/>
                    <a:lstStyle/>
                    <a:p>
                      <a:r>
                        <a:rPr lang="en-GB" sz="900"/>
                        <a:t>e.petrovic@radiation-institute.org</a:t>
                      </a:r>
                    </a:p>
                  </a:txBody>
                  <a:tcPr marL="30429" marR="30429" marT="15214" marB="15214" anchor="ctr"/>
                </a:tc>
                <a:tc>
                  <a:txBody>
                    <a:bodyPr/>
                    <a:lstStyle/>
                    <a:p>
                      <a:r>
                        <a:rPr lang="en-GB" sz="900"/>
                        <a:t>April 16, 10:00-12:00</a:t>
                      </a:r>
                    </a:p>
                  </a:txBody>
                  <a:tcPr marL="30429" marR="30429" marT="15214" marB="15214" anchor="ctr"/>
                </a:tc>
                <a:tc>
                  <a:txBody>
                    <a:bodyPr/>
                    <a:lstStyle/>
                    <a:p>
                      <a:r>
                        <a:rPr lang="en-GB" sz="900"/>
                        <a:t>Data protection and privacy requirements for radiation monitoring data</a:t>
                      </a:r>
                    </a:p>
                  </a:txBody>
                  <a:tcPr marL="30429" marR="30429" marT="15214" marB="15214" anchor="ctr"/>
                </a:tc>
                <a:tc>
                  <a:txBody>
                    <a:bodyPr/>
                    <a:lstStyle/>
                    <a:p>
                      <a:r>
                        <a:rPr lang="en-GB" sz="900"/>
                        <a:t>10</a:t>
                      </a:r>
                    </a:p>
                  </a:txBody>
                  <a:tcPr marL="30429" marR="30429" marT="15214" marB="15214" anchor="ctr"/>
                </a:tc>
                <a:tc>
                  <a:txBody>
                    <a:bodyPr/>
                    <a:lstStyle/>
                    <a:p>
                      <a:r>
                        <a:rPr lang="en-GB" sz="900"/>
                        <a:t>in-person</a:t>
                      </a:r>
                    </a:p>
                  </a:txBody>
                  <a:tcPr marL="30429" marR="30429" marT="15214" marB="15214" anchor="ctr"/>
                </a:tc>
                <a:tc>
                  <a:txBody>
                    <a:bodyPr/>
                    <a:lstStyle/>
                    <a:p>
                      <a:r>
                        <a:rPr lang="en-GB" sz="900"/>
                        <a:t>Bloc 2</a:t>
                      </a:r>
                    </a:p>
                  </a:txBody>
                  <a:tcPr marL="30429" marR="30429" marT="15214" marB="15214" anchor="ctr"/>
                </a:tc>
                <a:extLst>
                  <a:ext uri="{0D108BD9-81ED-4DB2-BD59-A6C34878D82A}">
                    <a16:rowId xmlns:a16="http://schemas.microsoft.com/office/drawing/2014/main" val="405209392"/>
                  </a:ext>
                </a:extLst>
              </a:tr>
              <a:tr h="208977">
                <a:tc>
                  <a:txBody>
                    <a:bodyPr/>
                    <a:lstStyle/>
                    <a:p>
                      <a:r>
                        <a:rPr lang="en-GB" sz="900"/>
                        <a:t>Khalid Al-Farsi</a:t>
                      </a:r>
                    </a:p>
                  </a:txBody>
                  <a:tcPr marL="30429" marR="30429" marT="15214" marB="15214" anchor="ctr"/>
                </a:tc>
                <a:tc>
                  <a:txBody>
                    <a:bodyPr/>
                    <a:lstStyle/>
                    <a:p>
                      <a:r>
                        <a:rPr lang="en-GB" sz="900"/>
                        <a:t>k.alfarsi@radiation-institute.org</a:t>
                      </a:r>
                    </a:p>
                  </a:txBody>
                  <a:tcPr marL="30429" marR="30429" marT="15214" marB="15214" anchor="ctr"/>
                </a:tc>
                <a:tc>
                  <a:txBody>
                    <a:bodyPr/>
                    <a:lstStyle/>
                    <a:p>
                      <a:r>
                        <a:rPr lang="en-GB" sz="900"/>
                        <a:t>April 16, 10:00-12:00</a:t>
                      </a:r>
                    </a:p>
                  </a:txBody>
                  <a:tcPr marL="30429" marR="30429" marT="15214" marB="15214" anchor="ctr"/>
                </a:tc>
                <a:tc>
                  <a:txBody>
                    <a:bodyPr/>
                    <a:lstStyle/>
                    <a:p>
                      <a:r>
                        <a:rPr lang="en-GB" sz="900"/>
                        <a:t>Pattern recognition in gamma spectrometry data</a:t>
                      </a:r>
                    </a:p>
                  </a:txBody>
                  <a:tcPr marL="30429" marR="30429" marT="15214" marB="15214" anchor="ctr"/>
                </a:tc>
                <a:tc>
                  <a:txBody>
                    <a:bodyPr/>
                    <a:lstStyle/>
                    <a:p>
                      <a:r>
                        <a:rPr lang="en-GB" sz="900"/>
                        <a:t>12</a:t>
                      </a:r>
                    </a:p>
                  </a:txBody>
                  <a:tcPr marL="30429" marR="30429" marT="15214" marB="15214" anchor="ctr"/>
                </a:tc>
                <a:tc>
                  <a:txBody>
                    <a:bodyPr/>
                    <a:lstStyle/>
                    <a:p>
                      <a:r>
                        <a:rPr lang="en-GB" sz="900"/>
                        <a:t>online</a:t>
                      </a:r>
                    </a:p>
                  </a:txBody>
                  <a:tcPr marL="30429" marR="30429" marT="15214" marB="15214" anchor="ctr"/>
                </a:tc>
                <a:tc>
                  <a:txBody>
                    <a:bodyPr/>
                    <a:lstStyle/>
                    <a:p>
                      <a:r>
                        <a:rPr lang="en-GB" sz="900"/>
                        <a:t>Bloc 1</a:t>
                      </a:r>
                    </a:p>
                  </a:txBody>
                  <a:tcPr marL="30429" marR="30429" marT="15214" marB="15214" anchor="ctr"/>
                </a:tc>
                <a:extLst>
                  <a:ext uri="{0D108BD9-81ED-4DB2-BD59-A6C34878D82A}">
                    <a16:rowId xmlns:a16="http://schemas.microsoft.com/office/drawing/2014/main" val="3197030838"/>
                  </a:ext>
                </a:extLst>
              </a:tr>
              <a:tr h="208977">
                <a:tc>
                  <a:txBody>
                    <a:bodyPr/>
                    <a:lstStyle/>
                    <a:p>
                      <a:r>
                        <a:rPr lang="en-GB" sz="900"/>
                        <a:t>Dr. Müller</a:t>
                      </a:r>
                    </a:p>
                  </a:txBody>
                  <a:tcPr marL="30429" marR="30429" marT="15214" marB="15214" anchor="ctr"/>
                </a:tc>
                <a:tc>
                  <a:txBody>
                    <a:bodyPr/>
                    <a:lstStyle/>
                    <a:p>
                      <a:r>
                        <a:rPr lang="en-GB" sz="900"/>
                        <a:t>(no email provided)</a:t>
                      </a:r>
                    </a:p>
                  </a:txBody>
                  <a:tcPr marL="30429" marR="30429" marT="15214" marB="15214" anchor="ctr"/>
                </a:tc>
                <a:tc>
                  <a:txBody>
                    <a:bodyPr/>
                    <a:lstStyle/>
                    <a:p>
                      <a:r>
                        <a:rPr lang="en-GB" sz="900"/>
                        <a:t>April 16, 10:00-12:00</a:t>
                      </a:r>
                    </a:p>
                  </a:txBody>
                  <a:tcPr marL="30429" marR="30429" marT="15214" marB="15214" anchor="ctr"/>
                </a:tc>
                <a:tc>
                  <a:txBody>
                    <a:bodyPr/>
                    <a:lstStyle/>
                    <a:p>
                      <a:r>
                        <a:rPr lang="en-GB" sz="900"/>
                        <a:t>Will attend/listen (interested in data security and NDAs)</a:t>
                      </a:r>
                    </a:p>
                  </a:txBody>
                  <a:tcPr marL="30429" marR="30429" marT="15214" marB="15214" anchor="ctr"/>
                </a:tc>
                <a:tc>
                  <a:txBody>
                    <a:bodyPr/>
                    <a:lstStyle/>
                    <a:p>
                      <a:r>
                        <a:rPr lang="en-GB" sz="900"/>
                        <a:t>n/a</a:t>
                      </a:r>
                    </a:p>
                  </a:txBody>
                  <a:tcPr marL="30429" marR="30429" marT="15214" marB="15214" anchor="ctr"/>
                </a:tc>
                <a:tc>
                  <a:txBody>
                    <a:bodyPr/>
                    <a:lstStyle/>
                    <a:p>
                      <a:r>
                        <a:rPr lang="en-GB" sz="900"/>
                        <a:t>in-person</a:t>
                      </a:r>
                    </a:p>
                  </a:txBody>
                  <a:tcPr marL="30429" marR="30429" marT="15214" marB="15214" anchor="ctr"/>
                </a:tc>
                <a:tc>
                  <a:txBody>
                    <a:bodyPr/>
                    <a:lstStyle/>
                    <a:p>
                      <a:r>
                        <a:rPr lang="en-GB" sz="900"/>
                        <a:t>Bloc 2</a:t>
                      </a:r>
                    </a:p>
                  </a:txBody>
                  <a:tcPr marL="30429" marR="30429" marT="15214" marB="15214" anchor="ctr"/>
                </a:tc>
                <a:extLst>
                  <a:ext uri="{0D108BD9-81ED-4DB2-BD59-A6C34878D82A}">
                    <a16:rowId xmlns:a16="http://schemas.microsoft.com/office/drawing/2014/main" val="2369695976"/>
                  </a:ext>
                </a:extLst>
              </a:tr>
              <a:tr h="397089">
                <a:tc>
                  <a:txBody>
                    <a:bodyPr/>
                    <a:lstStyle/>
                    <a:p>
                      <a:r>
                        <a:rPr lang="en-GB" sz="900"/>
                        <a:t>Dr. Ivanova</a:t>
                      </a:r>
                    </a:p>
                  </a:txBody>
                  <a:tcPr marL="30429" marR="30429" marT="15214" marB="15214" anchor="ctr"/>
                </a:tc>
                <a:tc>
                  <a:txBody>
                    <a:bodyPr/>
                    <a:lstStyle/>
                    <a:p>
                      <a:r>
                        <a:rPr lang="en-GB" sz="900"/>
                        <a:t>(no email provided)</a:t>
                      </a:r>
                    </a:p>
                  </a:txBody>
                  <a:tcPr marL="30429" marR="30429" marT="15214" marB="15214" anchor="ctr"/>
                </a:tc>
                <a:tc>
                  <a:txBody>
                    <a:bodyPr/>
                    <a:lstStyle/>
                    <a:p>
                      <a:r>
                        <a:rPr lang="en-GB" sz="900"/>
                        <a:t>April 16, 10:00-12:00</a:t>
                      </a:r>
                    </a:p>
                  </a:txBody>
                  <a:tcPr marL="30429" marR="30429" marT="15214" marB="15214" anchor="ctr"/>
                </a:tc>
                <a:tc>
                  <a:txBody>
                    <a:bodyPr/>
                    <a:lstStyle/>
                    <a:p>
                      <a:r>
                        <a:rPr lang="en-GB" sz="900"/>
                        <a:t>Will attend/listen (particularly interested in legislative/regulatory discussion)</a:t>
                      </a:r>
                    </a:p>
                  </a:txBody>
                  <a:tcPr marL="30429" marR="30429" marT="15214" marB="15214" anchor="ctr"/>
                </a:tc>
                <a:tc>
                  <a:txBody>
                    <a:bodyPr/>
                    <a:lstStyle/>
                    <a:p>
                      <a:r>
                        <a:rPr lang="en-GB" sz="900"/>
                        <a:t>n/a</a:t>
                      </a:r>
                    </a:p>
                  </a:txBody>
                  <a:tcPr marL="30429" marR="30429" marT="15214" marB="15214" anchor="ctr"/>
                </a:tc>
                <a:tc>
                  <a:txBody>
                    <a:bodyPr/>
                    <a:lstStyle/>
                    <a:p>
                      <a:r>
                        <a:rPr lang="en-GB" sz="900"/>
                        <a:t>in-person</a:t>
                      </a:r>
                    </a:p>
                  </a:txBody>
                  <a:tcPr marL="30429" marR="30429" marT="15214" marB="15214" anchor="ctr"/>
                </a:tc>
                <a:tc>
                  <a:txBody>
                    <a:bodyPr/>
                    <a:lstStyle/>
                    <a:p>
                      <a:r>
                        <a:rPr lang="en-GB" sz="900"/>
                        <a:t>Bloc 2</a:t>
                      </a:r>
                    </a:p>
                  </a:txBody>
                  <a:tcPr marL="30429" marR="30429" marT="15214" marB="15214" anchor="ctr"/>
                </a:tc>
                <a:extLst>
                  <a:ext uri="{0D108BD9-81ED-4DB2-BD59-A6C34878D82A}">
                    <a16:rowId xmlns:a16="http://schemas.microsoft.com/office/drawing/2014/main" val="4069314373"/>
                  </a:ext>
                </a:extLst>
              </a:tr>
            </a:tbl>
          </a:graphicData>
        </a:graphic>
      </p:graphicFrame>
      <p:sp>
        <p:nvSpPr>
          <p:cNvPr id="8" name="TextovéPole 7"/>
          <p:cNvSpPr txBox="1"/>
          <p:nvPr/>
        </p:nvSpPr>
        <p:spPr>
          <a:xfrm>
            <a:off x="285750" y="3009900"/>
            <a:ext cx="4377737" cy="369332"/>
          </a:xfrm>
          <a:prstGeom prst="rect">
            <a:avLst/>
          </a:prstGeom>
          <a:noFill/>
        </p:spPr>
        <p:txBody>
          <a:bodyPr wrap="none" rtlCol="0">
            <a:spAutoFit/>
          </a:bodyPr>
          <a:lstStyle/>
          <a:p>
            <a:r>
              <a:rPr lang="cs-CZ" smtClean="0">
                <a:latin typeface="Garamond" panose="02020404030301010803" pitchFamily="18" charset="0"/>
              </a:rPr>
              <a:t>Reasoning model chatGPT o1 (placená verze):</a:t>
            </a:r>
            <a:endParaRPr lang="en-GB">
              <a:latin typeface="Garamond" panose="02020404030301010803" pitchFamily="18" charset="0"/>
            </a:endParaRPr>
          </a:p>
        </p:txBody>
      </p:sp>
    </p:spTree>
    <p:extLst>
      <p:ext uri="{BB962C8B-B14F-4D97-AF65-F5344CB8AC3E}">
        <p14:creationId xmlns:p14="http://schemas.microsoft.com/office/powerpoint/2010/main" val="396591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ázek 3"/>
          <p:cNvPicPr>
            <a:picLocks noChangeAspect="1"/>
          </p:cNvPicPr>
          <p:nvPr/>
        </p:nvPicPr>
        <p:blipFill>
          <a:blip r:embed="rId2"/>
          <a:stretch>
            <a:fillRect/>
          </a:stretch>
        </p:blipFill>
        <p:spPr>
          <a:xfrm>
            <a:off x="219075" y="2279986"/>
            <a:ext cx="8162925" cy="857250"/>
          </a:xfrm>
          <a:prstGeom prst="rect">
            <a:avLst/>
          </a:prstGeom>
        </p:spPr>
      </p:pic>
      <p:sp>
        <p:nvSpPr>
          <p:cNvPr id="5" name="TextovéPole 4"/>
          <p:cNvSpPr txBox="1"/>
          <p:nvPr/>
        </p:nvSpPr>
        <p:spPr>
          <a:xfrm>
            <a:off x="219075" y="348561"/>
            <a:ext cx="3074624" cy="461665"/>
          </a:xfrm>
          <a:prstGeom prst="rect">
            <a:avLst/>
          </a:prstGeom>
          <a:noFill/>
        </p:spPr>
        <p:txBody>
          <a:bodyPr wrap="none" rtlCol="0">
            <a:spAutoFit/>
          </a:bodyPr>
          <a:lstStyle/>
          <a:p>
            <a:r>
              <a:rPr lang="cs-CZ" sz="2400" b="1" smtClean="0">
                <a:latin typeface="Garamond" panose="02020404030301010803" pitchFamily="18" charset="0"/>
              </a:rPr>
              <a:t>Příklad: Recenzent #2</a:t>
            </a:r>
            <a:endParaRPr lang="en-GB" sz="2400" b="1">
              <a:latin typeface="Garamond" panose="02020404030301010803" pitchFamily="18" charset="0"/>
            </a:endParaRPr>
          </a:p>
        </p:txBody>
      </p:sp>
      <p:sp>
        <p:nvSpPr>
          <p:cNvPr id="6" name="TextovéPole 5"/>
          <p:cNvSpPr txBox="1"/>
          <p:nvPr/>
        </p:nvSpPr>
        <p:spPr>
          <a:xfrm>
            <a:off x="300037" y="1083441"/>
            <a:ext cx="7505699" cy="923330"/>
          </a:xfrm>
          <a:prstGeom prst="rect">
            <a:avLst/>
          </a:prstGeom>
          <a:solidFill>
            <a:schemeClr val="accent2"/>
          </a:solidFill>
        </p:spPr>
        <p:txBody>
          <a:bodyPr wrap="square" rtlCol="0">
            <a:spAutoFit/>
          </a:bodyPr>
          <a:lstStyle/>
          <a:p>
            <a:r>
              <a:rPr lang="cs-CZ" smtClean="0">
                <a:latin typeface="Garamond" panose="02020404030301010803" pitchFamily="18" charset="0"/>
              </a:rPr>
              <a:t>Do docx souboru mi recenzent napsal komentáře, já jsem z pohodlnosti postupně přímo do textu odpovídal a teď bych chtěl vytvořit strukturovanou odpověď s návrhem změn textu, které vychází z mých odpovědí.</a:t>
            </a:r>
            <a:endParaRPr lang="en-GB">
              <a:latin typeface="Garamond" panose="02020404030301010803" pitchFamily="18" charset="0"/>
            </a:endParaRPr>
          </a:p>
        </p:txBody>
      </p:sp>
      <p:graphicFrame>
        <p:nvGraphicFramePr>
          <p:cNvPr id="7" name="Tabulka 6"/>
          <p:cNvGraphicFramePr>
            <a:graphicFrameLocks noGrp="1"/>
          </p:cNvGraphicFramePr>
          <p:nvPr>
            <p:extLst>
              <p:ext uri="{D42A27DB-BD31-4B8C-83A1-F6EECF244321}">
                <p14:modId xmlns:p14="http://schemas.microsoft.com/office/powerpoint/2010/main" val="2993619548"/>
              </p:ext>
            </p:extLst>
          </p:nvPr>
        </p:nvGraphicFramePr>
        <p:xfrm>
          <a:off x="219075" y="3686676"/>
          <a:ext cx="11694745" cy="2979420"/>
        </p:xfrm>
        <a:graphic>
          <a:graphicData uri="http://schemas.openxmlformats.org/drawingml/2006/table">
            <a:tbl>
              <a:tblPr firstRow="1" firstCol="1" bandRow="1">
                <a:tableStyleId>{5C22544A-7EE6-4342-B048-85BDC9FD1C3A}</a:tableStyleId>
              </a:tblPr>
              <a:tblGrid>
                <a:gridCol w="2219325">
                  <a:extLst>
                    <a:ext uri="{9D8B030D-6E8A-4147-A177-3AD203B41FA5}">
                      <a16:colId xmlns:a16="http://schemas.microsoft.com/office/drawing/2014/main" val="3247551684"/>
                    </a:ext>
                  </a:extLst>
                </a:gridCol>
                <a:gridCol w="1666875">
                  <a:extLst>
                    <a:ext uri="{9D8B030D-6E8A-4147-A177-3AD203B41FA5}">
                      <a16:colId xmlns:a16="http://schemas.microsoft.com/office/drawing/2014/main" val="1057473105"/>
                    </a:ext>
                  </a:extLst>
                </a:gridCol>
                <a:gridCol w="3130647">
                  <a:extLst>
                    <a:ext uri="{9D8B030D-6E8A-4147-A177-3AD203B41FA5}">
                      <a16:colId xmlns:a16="http://schemas.microsoft.com/office/drawing/2014/main" val="2997018780"/>
                    </a:ext>
                  </a:extLst>
                </a:gridCol>
                <a:gridCol w="717453">
                  <a:extLst>
                    <a:ext uri="{9D8B030D-6E8A-4147-A177-3AD203B41FA5}">
                      <a16:colId xmlns:a16="http://schemas.microsoft.com/office/drawing/2014/main" val="402146308"/>
                    </a:ext>
                  </a:extLst>
                </a:gridCol>
                <a:gridCol w="3960445">
                  <a:extLst>
                    <a:ext uri="{9D8B030D-6E8A-4147-A177-3AD203B41FA5}">
                      <a16:colId xmlns:a16="http://schemas.microsoft.com/office/drawing/2014/main" val="3161241364"/>
                    </a:ext>
                  </a:extLst>
                </a:gridCol>
              </a:tblGrid>
              <a:tr h="72124">
                <a:tc>
                  <a:txBody>
                    <a:bodyPr/>
                    <a:lstStyle/>
                    <a:p>
                      <a:pPr>
                        <a:lnSpc>
                          <a:spcPct val="115000"/>
                        </a:lnSpc>
                        <a:spcAft>
                          <a:spcPts val="0"/>
                        </a:spcAft>
                      </a:pPr>
                      <a:r>
                        <a:rPr lang="en-US" sz="1000">
                          <a:effectLst/>
                        </a:rPr>
                        <a:t>Chapter</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Reviewer #2</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Author</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Status</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Suggested Edit</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extLst>
                  <a:ext uri="{0D108BD9-81ED-4DB2-BD59-A6C34878D82A}">
                    <a16:rowId xmlns:a16="http://schemas.microsoft.com/office/drawing/2014/main" val="2381925122"/>
                  </a:ext>
                </a:extLst>
              </a:tr>
              <a:tr h="850935">
                <a:tc>
                  <a:txBody>
                    <a:bodyPr/>
                    <a:lstStyle/>
                    <a:p>
                      <a:pPr>
                        <a:lnSpc>
                          <a:spcPct val="115000"/>
                        </a:lnSpc>
                        <a:spcAft>
                          <a:spcPts val="0"/>
                        </a:spcAft>
                      </a:pPr>
                      <a:r>
                        <a:rPr lang="en-US" sz="1000">
                          <a:effectLst/>
                        </a:rPr>
                        <a:t>2.1 Self-absorption correction</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Why is this section needed at all? You already explained attenuation earlier.</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Tak si to v redakci nějak vyjasněte, celou tuto sekci jsme se dali na popud recenzenta #1. V podobných článcích to taky bývá uvedeno. S čím máš problém, vole? Námitku nepřijímám!</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rejected</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To perform a self-absorption correction, it is first necessary to determine the linear attenuation coefficient μ, which is then used to calculate the final correction factor K. This section was included in response to Reviewer #1’s request and mirrors similar content found in related publications. Therefore, no changes have been made.</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extLst>
                  <a:ext uri="{0D108BD9-81ED-4DB2-BD59-A6C34878D82A}">
                    <a16:rowId xmlns:a16="http://schemas.microsoft.com/office/drawing/2014/main" val="1389323969"/>
                  </a:ext>
                </a:extLst>
              </a:tr>
              <a:tr h="654565">
                <a:tc>
                  <a:txBody>
                    <a:bodyPr/>
                    <a:lstStyle/>
                    <a:p>
                      <a:pPr>
                        <a:lnSpc>
                          <a:spcPct val="115000"/>
                        </a:lnSpc>
                        <a:spcAft>
                          <a:spcPts val="0"/>
                        </a:spcAft>
                      </a:pPr>
                      <a:r>
                        <a:rPr lang="en-US" sz="1000">
                          <a:effectLst/>
                        </a:rPr>
                        <a:t>2.2.1 Experimental determination of μ</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This setup might cause wide beam artifacts. Are you accounting for that?</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because that way we completely eliminate the wide beam artifacts</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accepted</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The sample is irradiated with a collimated beam of 46.5 keV photons, generated by a 210Pb point source. The same geometry is used to irradiate a blank sample. This configuration was chosen because it completely eliminates wide beam artifacts.</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extLst>
                  <a:ext uri="{0D108BD9-81ED-4DB2-BD59-A6C34878D82A}">
                    <a16:rowId xmlns:a16="http://schemas.microsoft.com/office/drawing/2014/main" val="107010091"/>
                  </a:ext>
                </a:extLst>
              </a:tr>
              <a:tr h="523653">
                <a:tc>
                  <a:txBody>
                    <a:bodyPr/>
                    <a:lstStyle/>
                    <a:p>
                      <a:pPr>
                        <a:lnSpc>
                          <a:spcPct val="115000"/>
                        </a:lnSpc>
                        <a:spcAft>
                          <a:spcPts val="0"/>
                        </a:spcAft>
                      </a:pPr>
                      <a:r>
                        <a:rPr lang="en-US" sz="1000">
                          <a:effectLst/>
                        </a:rPr>
                        <a:t>2.2.2 Determination of K for 210Pb</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The uncertainty seems underestimated. What was the variability?</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less than 1 %</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accepted</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The correction factor Kⱼ is then computed as the average ratio of these attenuations across all valid photon paths. The relative uncertainty was less than 1 %, confirming acceptable variability.</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extLst>
                  <a:ext uri="{0D108BD9-81ED-4DB2-BD59-A6C34878D82A}">
                    <a16:rowId xmlns:a16="http://schemas.microsoft.com/office/drawing/2014/main" val="2160386481"/>
                  </a:ext>
                </a:extLst>
              </a:tr>
              <a:tr h="589109">
                <a:tc>
                  <a:txBody>
                    <a:bodyPr/>
                    <a:lstStyle/>
                    <a:p>
                      <a:pPr>
                        <a:lnSpc>
                          <a:spcPct val="115000"/>
                        </a:lnSpc>
                        <a:spcAft>
                          <a:spcPts val="0"/>
                        </a:spcAft>
                      </a:pPr>
                      <a:r>
                        <a:rPr lang="en-US" sz="1000">
                          <a:effectLst/>
                        </a:rPr>
                        <a:t>2.2.2 Determination of K for 210Pb</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Did you test for normality before using mean and SD?</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Yes the normality test is done before the estimation of the uncertanintiers.</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accepted</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tc>
                  <a:txBody>
                    <a:bodyPr/>
                    <a:lstStyle/>
                    <a:p>
                      <a:pPr>
                        <a:lnSpc>
                          <a:spcPct val="115000"/>
                        </a:lnSpc>
                        <a:spcAft>
                          <a:spcPts val="0"/>
                        </a:spcAft>
                      </a:pPr>
                      <a:r>
                        <a:rPr lang="en-US" sz="1000">
                          <a:effectLst/>
                        </a:rPr>
                        <a:t>Repeating the simulation nsim times yields a distribution of Kⱼ values, from which the final correction factor K is obtained as their mean, and its uncertainty as the standard deviation. A normality test is done before this estimation.</a:t>
                      </a:r>
                      <a:endParaRPr lang="en-GB" sz="1000">
                        <a:effectLst/>
                        <a:latin typeface="Cambria" panose="02040503050406030204" pitchFamily="18" charset="0"/>
                        <a:ea typeface="MS Mincho"/>
                        <a:cs typeface="Times New Roman" panose="02020603050405020304" pitchFamily="18" charset="0"/>
                      </a:endParaRPr>
                    </a:p>
                  </a:txBody>
                  <a:tcPr marL="37754" marR="37754" marT="0" marB="0"/>
                </a:tc>
                <a:extLst>
                  <a:ext uri="{0D108BD9-81ED-4DB2-BD59-A6C34878D82A}">
                    <a16:rowId xmlns:a16="http://schemas.microsoft.com/office/drawing/2014/main" val="1628696132"/>
                  </a:ext>
                </a:extLst>
              </a:tr>
            </a:tbl>
          </a:graphicData>
        </a:graphic>
      </p:graphicFrame>
      <p:sp>
        <p:nvSpPr>
          <p:cNvPr id="8" name="TextovéPole 7"/>
          <p:cNvSpPr txBox="1"/>
          <p:nvPr/>
        </p:nvSpPr>
        <p:spPr>
          <a:xfrm>
            <a:off x="123825" y="3291865"/>
            <a:ext cx="2843022" cy="369332"/>
          </a:xfrm>
          <a:prstGeom prst="rect">
            <a:avLst/>
          </a:prstGeom>
          <a:noFill/>
        </p:spPr>
        <p:txBody>
          <a:bodyPr wrap="none" rtlCol="0">
            <a:spAutoFit/>
          </a:bodyPr>
          <a:lstStyle/>
          <a:p>
            <a:r>
              <a:rPr lang="cs-CZ" smtClean="0">
                <a:latin typeface="Garamond" panose="02020404030301010803" pitchFamily="18" charset="0"/>
              </a:rPr>
              <a:t>chatGPT </a:t>
            </a:r>
            <a:r>
              <a:rPr lang="cs-CZ">
                <a:latin typeface="Garamond" panose="02020404030301010803" pitchFamily="18" charset="0"/>
              </a:rPr>
              <a:t>o1 (placená verze): :</a:t>
            </a:r>
            <a:endParaRPr lang="en-GB">
              <a:latin typeface="Garamond" panose="02020404030301010803" pitchFamily="18" charset="0"/>
            </a:endParaRPr>
          </a:p>
        </p:txBody>
      </p:sp>
    </p:spTree>
    <p:extLst>
      <p:ext uri="{BB962C8B-B14F-4D97-AF65-F5344CB8AC3E}">
        <p14:creationId xmlns:p14="http://schemas.microsoft.com/office/powerpoint/2010/main" val="3230476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ovéPole 4"/>
          <p:cNvSpPr txBox="1"/>
          <p:nvPr/>
        </p:nvSpPr>
        <p:spPr>
          <a:xfrm>
            <a:off x="219075" y="348561"/>
            <a:ext cx="4163897" cy="461665"/>
          </a:xfrm>
          <a:prstGeom prst="rect">
            <a:avLst/>
          </a:prstGeom>
          <a:noFill/>
        </p:spPr>
        <p:txBody>
          <a:bodyPr wrap="none" rtlCol="0">
            <a:spAutoFit/>
          </a:bodyPr>
          <a:lstStyle/>
          <a:p>
            <a:r>
              <a:rPr lang="cs-CZ" sz="2400" b="1" smtClean="0">
                <a:latin typeface="Garamond" panose="02020404030301010803" pitchFamily="18" charset="0"/>
              </a:rPr>
              <a:t>Příklad: Analýza RPT souboru</a:t>
            </a:r>
            <a:endParaRPr lang="en-GB" sz="2400" b="1">
              <a:latin typeface="Garamond" panose="02020404030301010803" pitchFamily="18" charset="0"/>
            </a:endParaRPr>
          </a:p>
        </p:txBody>
      </p:sp>
      <p:sp>
        <p:nvSpPr>
          <p:cNvPr id="6" name="TextovéPole 5"/>
          <p:cNvSpPr txBox="1"/>
          <p:nvPr/>
        </p:nvSpPr>
        <p:spPr>
          <a:xfrm>
            <a:off x="300037" y="1083441"/>
            <a:ext cx="7505699" cy="2031325"/>
          </a:xfrm>
          <a:prstGeom prst="rect">
            <a:avLst/>
          </a:prstGeom>
          <a:solidFill>
            <a:schemeClr val="accent2"/>
          </a:solidFill>
        </p:spPr>
        <p:txBody>
          <a:bodyPr wrap="square" rtlCol="0">
            <a:spAutoFit/>
          </a:bodyPr>
          <a:lstStyle/>
          <a:p>
            <a:pPr algn="just"/>
            <a:r>
              <a:rPr lang="cs-CZ" smtClean="0">
                <a:latin typeface="Garamond" panose="02020404030301010803" pitchFamily="18" charset="0"/>
              </a:rPr>
              <a:t>Kolega namítá, že ve výsledcích vidí odlehlé hodnoty. Já mu odpovídám, že vidí duchy a nic tam není, pokud uvážíme nejistoty měření. Předhodím LLM zip archiv s RPT soubory a jednoduchý návod, kde má hledat výsledné hodnoty pro K-40 a výsledky sumarizoval do csv souboru. Potom ho poprosím, aby udělal testy odlehlosti a vykreslil grafy. Csv nahraju na google disk a přes google colab vytvořím interaktivní report, který sdílím s kolegou. Na základě emailové konverzace mu LLM odpoví tónem, který mu zadám.</a:t>
            </a:r>
            <a:endParaRPr lang="en-GB">
              <a:latin typeface="Garamond" panose="02020404030301010803" pitchFamily="18" charset="0"/>
            </a:endParaRPr>
          </a:p>
        </p:txBody>
      </p:sp>
      <p:sp>
        <p:nvSpPr>
          <p:cNvPr id="8" name="TextovéPole 7"/>
          <p:cNvSpPr txBox="1"/>
          <p:nvPr/>
        </p:nvSpPr>
        <p:spPr>
          <a:xfrm>
            <a:off x="261849" y="3203315"/>
            <a:ext cx="7582073" cy="646331"/>
          </a:xfrm>
          <a:prstGeom prst="rect">
            <a:avLst/>
          </a:prstGeom>
          <a:noFill/>
        </p:spPr>
        <p:txBody>
          <a:bodyPr wrap="square" rtlCol="0">
            <a:spAutoFit/>
          </a:bodyPr>
          <a:lstStyle/>
          <a:p>
            <a:r>
              <a:rPr lang="cs-CZ" smtClean="0">
                <a:latin typeface="Garamond" panose="02020404030301010803" pitchFamily="18" charset="0"/>
              </a:rPr>
              <a:t>chatGPT </a:t>
            </a:r>
            <a:r>
              <a:rPr lang="cs-CZ">
                <a:latin typeface="Garamond" panose="02020404030301010803" pitchFamily="18" charset="0"/>
              </a:rPr>
              <a:t>o1 (placená verze</a:t>
            </a:r>
            <a:r>
              <a:rPr lang="cs-CZ" smtClean="0">
                <a:latin typeface="Garamond" panose="02020404030301010803" pitchFamily="18" charset="0"/>
              </a:rPr>
              <a:t>): přímo do chatu dokáže vykreslit výsledky, nebo poskytne kód…</a:t>
            </a:r>
            <a:endParaRPr lang="en-GB">
              <a:latin typeface="Garamond" panose="02020404030301010803" pitchFamily="18" charset="0"/>
            </a:endParaRPr>
          </a:p>
        </p:txBody>
      </p:sp>
      <p:sp>
        <p:nvSpPr>
          <p:cNvPr id="9" name="Obdélník 8"/>
          <p:cNvSpPr/>
          <p:nvPr/>
        </p:nvSpPr>
        <p:spPr>
          <a:xfrm>
            <a:off x="198517" y="3849646"/>
            <a:ext cx="7362825" cy="646331"/>
          </a:xfrm>
          <a:prstGeom prst="rect">
            <a:avLst/>
          </a:prstGeom>
        </p:spPr>
        <p:txBody>
          <a:bodyPr wrap="square">
            <a:spAutoFit/>
          </a:bodyPr>
          <a:lstStyle/>
          <a:p>
            <a:r>
              <a:rPr lang="en-GB">
                <a:latin typeface="Garamond" panose="02020404030301010803" pitchFamily="18" charset="0"/>
                <a:hlinkClick r:id="rId2"/>
              </a:rPr>
              <a:t>https://colab.research.google.com/drive/1KWu9TUSmmkWtnJs66PMAy8SVPMmr8seA?usp=sharing</a:t>
            </a:r>
            <a:endParaRPr lang="en-GB">
              <a:latin typeface="Garamond" panose="02020404030301010803" pitchFamily="18" charset="0"/>
            </a:endParaRPr>
          </a:p>
        </p:txBody>
      </p:sp>
      <p:pic>
        <p:nvPicPr>
          <p:cNvPr id="11" name="Obrázek 10"/>
          <p:cNvPicPr>
            <a:picLocks noChangeAspect="1"/>
          </p:cNvPicPr>
          <p:nvPr/>
        </p:nvPicPr>
        <p:blipFill>
          <a:blip r:embed="rId3"/>
          <a:stretch>
            <a:fillRect/>
          </a:stretch>
        </p:blipFill>
        <p:spPr>
          <a:xfrm>
            <a:off x="7805736" y="348561"/>
            <a:ext cx="4271177" cy="6065071"/>
          </a:xfrm>
          <a:prstGeom prst="rect">
            <a:avLst/>
          </a:prstGeom>
        </p:spPr>
      </p:pic>
      <p:sp>
        <p:nvSpPr>
          <p:cNvPr id="2" name="TextovéPole 1"/>
          <p:cNvSpPr txBox="1"/>
          <p:nvPr/>
        </p:nvSpPr>
        <p:spPr>
          <a:xfrm>
            <a:off x="261849" y="4861524"/>
            <a:ext cx="5864631" cy="646331"/>
          </a:xfrm>
          <a:prstGeom prst="rect">
            <a:avLst/>
          </a:prstGeom>
          <a:solidFill>
            <a:schemeClr val="accent6">
              <a:lumMod val="20000"/>
              <a:lumOff val="80000"/>
            </a:schemeClr>
          </a:solidFill>
        </p:spPr>
        <p:txBody>
          <a:bodyPr wrap="square" rtlCol="0">
            <a:spAutoFit/>
          </a:bodyPr>
          <a:lstStyle/>
          <a:p>
            <a:r>
              <a:rPr lang="cs-CZ" smtClean="0">
                <a:latin typeface="Garamond" panose="02020404030301010803" pitchFamily="18" charset="0"/>
              </a:rPr>
              <a:t>V google colab můžete pracovat s Gemini modelem od googlu – upravovat kód na základě pokynů apod.</a:t>
            </a:r>
            <a:endParaRPr lang="en-GB">
              <a:latin typeface="Garamond" panose="02020404030301010803" pitchFamily="18" charset="0"/>
            </a:endParaRPr>
          </a:p>
        </p:txBody>
      </p:sp>
    </p:spTree>
    <p:extLst>
      <p:ext uri="{BB962C8B-B14F-4D97-AF65-F5344CB8AC3E}">
        <p14:creationId xmlns:p14="http://schemas.microsoft.com/office/powerpoint/2010/main" val="3295953293"/>
      </p:ext>
    </p:extLst>
  </p:cSld>
  <p:clrMapOvr>
    <a:masterClrMapping/>
  </p:clrMapOvr>
</p:sld>
</file>

<file path=ppt/theme/theme1.xml><?xml version="1.0" encoding="utf-8"?>
<a:theme xmlns:a="http://schemas.openxmlformats.org/drawingml/2006/main" name="Motiv Office">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celář">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443</TotalTime>
  <Words>2067</Words>
  <Application>Microsoft Office PowerPoint</Application>
  <PresentationFormat>Širokoúhlá obrazovka</PresentationFormat>
  <Paragraphs>248</Paragraphs>
  <Slides>11</Slides>
  <Notes>0</Notes>
  <HiddenSlides>0</HiddenSlides>
  <MMClips>0</MMClips>
  <ScaleCrop>false</ScaleCrop>
  <HeadingPairs>
    <vt:vector size="6" baseType="variant">
      <vt:variant>
        <vt:lpstr>Použitá písma</vt:lpstr>
      </vt:variant>
      <vt:variant>
        <vt:i4>7</vt:i4>
      </vt:variant>
      <vt:variant>
        <vt:lpstr>Motiv</vt:lpstr>
      </vt:variant>
      <vt:variant>
        <vt:i4>1</vt:i4>
      </vt:variant>
      <vt:variant>
        <vt:lpstr>Nadpisy snímků</vt:lpstr>
      </vt:variant>
      <vt:variant>
        <vt:i4>11</vt:i4>
      </vt:variant>
    </vt:vector>
  </HeadingPairs>
  <TitlesOfParts>
    <vt:vector size="19" baseType="lpstr">
      <vt:lpstr>Arial</vt:lpstr>
      <vt:lpstr>Calibri</vt:lpstr>
      <vt:lpstr>Calibri Light</vt:lpstr>
      <vt:lpstr>Cambria</vt:lpstr>
      <vt:lpstr>Garamond</vt:lpstr>
      <vt:lpstr>MS Mincho</vt:lpstr>
      <vt:lpstr>Times New Roman</vt:lpstr>
      <vt:lpstr>Motiv Office</vt:lpstr>
      <vt:lpstr>Praktická část</vt:lpstr>
      <vt:lpstr>Prezentace aplikace PowerPoint</vt:lpstr>
      <vt:lpstr>Prezentace aplikace PowerPoint</vt:lpstr>
      <vt:lpstr>Prezentace aplikace PowerPoint</vt:lpstr>
      <vt:lpstr>Skoro cokoliv lze i naprogramovat v Pythonu (zdarma)</vt:lpstr>
      <vt:lpstr>Není překlad jako překlad</vt:lpstr>
      <vt:lpstr>Prezentace aplikace PowerPoint</vt:lpstr>
      <vt:lpstr>Prezentace aplikace PowerPoint</vt:lpstr>
      <vt:lpstr>Prezentace aplikace PowerPoint</vt:lpstr>
      <vt:lpstr>Prezentace aplikace PowerPoint</vt:lpstr>
      <vt:lpstr>Prezentace aplikace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Prezentace aplikace PowerPoint</dc:title>
  <dc:creator>Ing.Miroslav Hýža</dc:creator>
  <cp:lastModifiedBy>Ing.Miroslav Hýža</cp:lastModifiedBy>
  <cp:revision>37</cp:revision>
  <dcterms:created xsi:type="dcterms:W3CDTF">2025-04-10T09:54:42Z</dcterms:created>
  <dcterms:modified xsi:type="dcterms:W3CDTF">2025-04-16T14:32:50Z</dcterms:modified>
</cp:coreProperties>
</file>